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3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75" r:id="rId3"/>
    <p:sldId id="300" r:id="rId4"/>
    <p:sldId id="274" r:id="rId5"/>
    <p:sldId id="283" r:id="rId6"/>
    <p:sldId id="289" r:id="rId7"/>
    <p:sldId id="281" r:id="rId8"/>
    <p:sldId id="290" r:id="rId9"/>
    <p:sldId id="285" r:id="rId10"/>
    <p:sldId id="286" r:id="rId11"/>
    <p:sldId id="291" r:id="rId12"/>
    <p:sldId id="299" r:id="rId13"/>
    <p:sldId id="287" r:id="rId14"/>
    <p:sldId id="288" r:id="rId15"/>
    <p:sldId id="298" r:id="rId16"/>
    <p:sldId id="276" r:id="rId17"/>
    <p:sldId id="295" r:id="rId18"/>
    <p:sldId id="296" r:id="rId19"/>
    <p:sldId id="297" r:id="rId20"/>
    <p:sldId id="301" r:id="rId21"/>
    <p:sldId id="306" r:id="rId22"/>
    <p:sldId id="302" r:id="rId23"/>
    <p:sldId id="307" r:id="rId24"/>
    <p:sldId id="308" r:id="rId25"/>
    <p:sldId id="309" r:id="rId26"/>
    <p:sldId id="310" r:id="rId27"/>
    <p:sldId id="311" r:id="rId28"/>
    <p:sldId id="303" r:id="rId29"/>
    <p:sldId id="312" r:id="rId30"/>
    <p:sldId id="304" r:id="rId31"/>
    <p:sldId id="305" r:id="rId32"/>
    <p:sldId id="260" r:id="rId33"/>
    <p:sldId id="262" r:id="rId34"/>
    <p:sldId id="267" r:id="rId35"/>
    <p:sldId id="270" r:id="rId36"/>
    <p:sldId id="264" r:id="rId37"/>
    <p:sldId id="265" r:id="rId38"/>
    <p:sldId id="266" r:id="rId39"/>
    <p:sldId id="273" r:id="rId40"/>
    <p:sldId id="261" r:id="rId41"/>
    <p:sldId id="268" r:id="rId42"/>
    <p:sldId id="271" r:id="rId43"/>
  </p:sldIdLst>
  <p:sldSz cx="12192000" cy="6858000"/>
  <p:notesSz cx="6858000" cy="9144000"/>
  <p:embeddedFontLst>
    <p:embeddedFont>
      <p:font typeface="Poppins" pitchFamily="2" charset="77"/>
      <p:regular r:id="rId45"/>
      <p:bold r:id="rId46"/>
      <p:italic r:id="rId47"/>
      <p:boldItalic r:id="rId48"/>
    </p:embeddedFont>
    <p:embeddedFont>
      <p:font typeface="Trebuchet MS" panose="020B0703020202090204" pitchFamily="34" charset="0"/>
      <p:regular r:id="rId49"/>
      <p:bold r:id="rId50"/>
      <p: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4" orient="horz" pos="396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iw8+s/iCPpLN/M1yHokwPnbi8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2"/>
    <p:restoredTop sz="93631"/>
  </p:normalViewPr>
  <p:slideViewPr>
    <p:cSldViewPr snapToGrid="0">
      <p:cViewPr>
        <p:scale>
          <a:sx n="101" d="100"/>
          <a:sy n="101" d="100"/>
        </p:scale>
        <p:origin x="240" y="888"/>
      </p:cViewPr>
      <p:guideLst>
        <p:guide orient="horz" pos="2160"/>
        <p:guide pos="3840"/>
        <p:guide orient="horz" pos="3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53:3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53:3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53:3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16cf198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16cf198e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8f16cf198e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6013-F593-616A-47B8-62E5143A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B8C4A-841D-B0B0-466A-73538362B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5483D-D06C-A1BA-E2B6-50ED0558C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9CFC8-0F6B-9703-4DBA-51D3E8E968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24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133C-462C-DBB9-2C0A-EC8FA3AB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9CE84-6269-A7A6-1B58-EC2D248C3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6D978-5FF3-E623-B51C-F9F32E116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650BC-D706-5BF6-AF98-724D62B13B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6265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652E-7404-F4EE-0D18-8F85C2FB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0F557-B018-D53C-297C-5C9A7FA12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0EDFD-D442-E9C5-87A7-0BB9453BA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CAD0F-4190-C9E0-0711-1AD04C8ACC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091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2F7E-AEE6-FDBB-FCA4-A6541476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6D839-4C3B-BC2A-8F85-4C26CB2D9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F28C6-7355-45D9-F180-5191821B0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F1B3F-0B5D-7596-95DE-ACDDDB13D1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6082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7649-C8DB-67EC-F367-53EA59D1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04B15-6370-5F7B-8440-27D804A08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9978-6397-7F44-BBA4-55BB5B86D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154A8-AF93-BA75-C16E-CC2DB8DB3B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91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CDAD-82BC-9D6D-A95A-E4407E06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0FFF3-791A-8650-BA53-717D6D4C6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41F06-3B35-A181-CD46-236C683AA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1D4D5-580B-6FFF-C3DA-CA7BA62E7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4983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50E5-38CF-857A-068C-B730355B4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1AAA7-4C66-E874-DCA6-D14042AD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8E81D-2F31-97F5-A17E-80E37634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7E737-C3EA-CC06-E3DA-A805C2F661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4203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065D-5503-4D3D-604F-681EF8F3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92DB4-976E-574F-FC8B-688B16E6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43E46-D4DE-1257-21AA-98C9E0901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9EFCF-0B84-1BB7-B0E4-5F97E4426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8044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152C-4936-8472-F5D2-B4AA753E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B3597-AA45-B93C-1CF0-F298BEB01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4BC64-AC50-FEF9-E900-69BD9CE77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970C7-58E8-BDFE-F4E9-27B1157373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4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5203-FE8E-F26E-8215-0D4C6FB0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0E2A0-0CFF-C672-C848-01F21F606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1F354-23F3-2E56-BAAE-E1F71202B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E0C42-760F-A525-C45F-1E26C7E4FA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6965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861A1-F95D-98EA-8BF8-7236526F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EB640-0C41-BE17-F3D2-B4E5C567B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8F897-E83C-C513-A0DC-F5DC464D7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E8ECA-0777-988D-523E-F062DBF98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7786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4521-905A-4C3F-732C-6AC26A50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CECD8-ED9D-9427-CA3F-BF109A58B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54496-B6D8-4C2D-81F9-2DBE92ED9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483EA-6C93-53B2-1B3B-67FBDF715F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8796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1AD6-1FC7-4AFC-BB47-415F3A29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71299-E7C8-83C9-0DCB-E28154776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F3799-66B4-0157-C646-0DBB632E9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2DBEE-9C7C-898F-5551-C63B7BC91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665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205C-5A68-9D99-FEF7-229FFA2F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6DBD2-7773-0D03-3419-0C6A86BD9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D358C-E880-C0FE-21C1-E802FD887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1A5CE-A388-48E7-902C-F27ADB91F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153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1862-43AD-5D0C-DD96-0215583B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81643-76BB-8506-D4D1-6DEA5B338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8D9B1-431B-97AB-8761-D858B0686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 = what it’s about </a:t>
            </a:r>
          </a:p>
          <a:p>
            <a:r>
              <a:rPr lang="en-US" dirty="0"/>
              <a:t>sparse = what it says</a:t>
            </a:r>
          </a:p>
          <a:p>
            <a:endParaRPr lang="en-US" dirty="0"/>
          </a:p>
          <a:p>
            <a:r>
              <a:rPr lang="en-US" dirty="0"/>
              <a:t>Speculative :</a:t>
            </a:r>
            <a:br>
              <a:rPr lang="en-US" dirty="0"/>
            </a:br>
            <a:r>
              <a:rPr lang="en-US" dirty="0"/>
              <a:t>Small model : light and cheap /token.</a:t>
            </a:r>
            <a:br>
              <a:rPr lang="en-US" dirty="0"/>
            </a:br>
            <a:r>
              <a:rPr lang="en-US" dirty="0"/>
              <a:t>Large model runs fewer, larger parallel evaluations instead of many tiny sequential ones.</a:t>
            </a:r>
            <a:br>
              <a:rPr lang="en-US" dirty="0"/>
            </a:br>
            <a:r>
              <a:rPr lang="en-US" dirty="0"/>
              <a:t>GPU utilization is smoother (less idle), memory reuse (KV) is more efficient.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F885A-9357-DE03-6D4D-F1E71AFC1F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8433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09AB-3787-D462-F555-D6FB1652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EA7A0-C8CA-85EF-C0BA-A451FB6BB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2AC5D-7851-516F-8981-3FB899973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720E-26DC-3985-6BDC-C3D6648224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5549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DB07-C781-2323-41C3-138AB406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DFE87-6CE5-F375-6AEC-1E1EF19DC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2CF17-69DB-8830-C03A-41873C690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A5AFD-EFB0-B93E-88CD-DE54873159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984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9CD66-95F8-9A26-AAAB-2241ECA9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32012-F724-4671-A91B-B61DC7CC3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D1CCF-498B-A978-50A5-802C9A03E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E4C6C-42DB-8B56-BD65-9442DB94A3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823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6357-5FC2-2D90-3837-3ECBE923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4A7EB-2E9F-90A5-96A6-A54FCBBE2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A8AE6-D681-C59A-E2BE-6757D867C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EA883-9D76-2A0A-0FFE-D64E181805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3184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924C-ECF0-A00B-7E47-F0646D9F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506C7-5EC3-A539-452F-19D355A4A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7A932-A59E-B973-BC81-8F962F7F9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761AA-D297-C44C-AD6B-16D4B37E2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673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DB09-AD99-F85D-E0EB-A3729C7C9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14ADA-0ACB-5627-A3D7-AD3E505F6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37DEF-14D2-08FA-C4EE-ABFA6D412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7328F-6D19-51A3-3EA3-CF45AAD3B9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1760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FAE9-EAB1-2749-296B-62988504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2D589-A8CA-BE05-E54D-8FA050EA1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CE269-7109-5349-6640-D24712D01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462E4-900E-7464-8DD0-1DA8603E2C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7638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3A19-4B0C-97D4-13B5-97B944E8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747AC-AA87-A353-BDB5-5E23A9963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30150-F3AA-2BDD-9109-F571B0A05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3C57A-C150-D83C-DAB1-F36B91EC4D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4951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8CF1-5961-8850-133A-05F89E7E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E12A8-3F57-6A72-40A0-ADB7E0CEC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D5534-AA3E-E501-D022-008DB846B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5BDA0-C51A-AC19-C471-17CEA6EF6B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836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2F94-99D9-DD07-D47A-314D659D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46572-BE90-91D3-4EA4-218BF149F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FC5DF-1358-E59F-6C03-DC45DA30C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57F64-9EC7-0E3E-9B75-055A765967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139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61AD-D838-AC59-CC05-85B10791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39ABF-CDB2-F372-2C4A-870706707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A5E8A-2A28-EB43-5890-BE53A5647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35E01-72FB-6C0F-E1D8-434477F3BB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787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8658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E0C94-1404-8EAD-4D7D-770268946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05DFC-D0CA-3E86-B545-5E19F19BF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F986F-D7C1-9F4D-4C47-A55EF5D2A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4A883-731B-55CE-65FA-939F497F9D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0328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524000" y="13884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1524000" y="42136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54;g38f16cf198e_0_26">
            <a:extLst>
              <a:ext uri="{FF2B5EF4-FFF2-40B4-BE49-F238E27FC236}">
                <a16:creationId xmlns:a16="http://schemas.microsoft.com/office/drawing/2014/main" id="{11B90D56-EA47-5BAD-F885-ABEAB1BCDF24}"/>
              </a:ext>
            </a:extLst>
          </p:cNvPr>
          <p:cNvSpPr/>
          <p:nvPr userDrawn="1"/>
        </p:nvSpPr>
        <p:spPr>
          <a:xfrm>
            <a:off x="0" y="-15675"/>
            <a:ext cx="10369200" cy="60168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55;g38f16cf198e_0_26">
            <a:extLst>
              <a:ext uri="{FF2B5EF4-FFF2-40B4-BE49-F238E27FC236}">
                <a16:creationId xmlns:a16="http://schemas.microsoft.com/office/drawing/2014/main" id="{E05A9980-6C02-4C87-A9ED-E55A3D9668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56;g38f16cf198e_0_26">
            <a:extLst>
              <a:ext uri="{FF2B5EF4-FFF2-40B4-BE49-F238E27FC236}">
                <a16:creationId xmlns:a16="http://schemas.microsoft.com/office/drawing/2014/main" id="{7131373D-42FB-B7FA-E20D-A72F65DF370A}"/>
              </a:ext>
            </a:extLst>
          </p:cNvPr>
          <p:cNvSpPr/>
          <p:nvPr userDrawn="1"/>
        </p:nvSpPr>
        <p:spPr>
          <a:xfrm rot="10800000">
            <a:off x="1824300" y="-17775"/>
            <a:ext cx="10367700" cy="60210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7;g38f16cf198e_0_26">
            <a:extLst>
              <a:ext uri="{FF2B5EF4-FFF2-40B4-BE49-F238E27FC236}">
                <a16:creationId xmlns:a16="http://schemas.microsoft.com/office/drawing/2014/main" id="{6179DD75-2622-3275-AAE6-CF12156AFE6F}"/>
              </a:ext>
            </a:extLst>
          </p:cNvPr>
          <p:cNvSpPr txBox="1">
            <a:spLocks/>
          </p:cNvSpPr>
          <p:nvPr userDrawn="1"/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595959"/>
              </a:buClr>
              <a:buSzPts val="1900"/>
              <a:buFont typeface="Arial"/>
              <a:buNone/>
            </a:pPr>
            <a:endParaRPr lang="en-US" sz="1900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Center for Internet of Things Innovation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National Taiwan University of Science and Technology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Oct 22, 2025 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800"/>
              <a:buFont typeface="Arial"/>
              <a:buNone/>
            </a:pPr>
            <a:endParaRPr lang="en-US" dirty="0">
              <a:solidFill>
                <a:srgbClr val="595959"/>
              </a:solidFill>
            </a:endParaRPr>
          </a:p>
        </p:txBody>
      </p:sp>
      <p:sp>
        <p:nvSpPr>
          <p:cNvPr id="15" name="Google Shape;158;g38f16cf198e_0_26">
            <a:extLst>
              <a:ext uri="{FF2B5EF4-FFF2-40B4-BE49-F238E27FC236}">
                <a16:creationId xmlns:a16="http://schemas.microsoft.com/office/drawing/2014/main" id="{A21BE298-174E-BC05-FDD9-B6690457713A}"/>
              </a:ext>
            </a:extLst>
          </p:cNvPr>
          <p:cNvSpPr txBox="1">
            <a:spLocks/>
          </p:cNvSpPr>
          <p:nvPr userDrawn="1"/>
        </p:nvSpPr>
        <p:spPr>
          <a:xfrm>
            <a:off x="0" y="2055075"/>
            <a:ext cx="12192000" cy="18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  <a:buSzPts val="1100"/>
              <a:buFont typeface="Arial"/>
              <a:buNone/>
            </a:pPr>
            <a:r>
              <a:rPr lang="en-US" b="1">
                <a:solidFill>
                  <a:srgbClr val="434343"/>
                </a:solidFill>
              </a:rPr>
              <a:t>Thesis Proposal</a:t>
            </a:r>
            <a:br>
              <a:rPr lang="en-US" b="1">
                <a:solidFill>
                  <a:srgbClr val="434343"/>
                </a:solidFill>
              </a:rPr>
            </a:br>
            <a:endParaRPr lang="en-US" b="1" dirty="0">
              <a:solidFill>
                <a:srgbClr val="434343"/>
              </a:solidFill>
            </a:endParaRPr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7F5513D4-3CB5-3801-FFB1-AF6778A2DFE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D61D0823-2FCF-0167-B698-A7EE2745B0B6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0" name="Google Shape;34;p6" descr="C:\Users\Satriya Dinata\Desktop\NTUST.png">
              <a:extLst>
                <a:ext uri="{FF2B5EF4-FFF2-40B4-BE49-F238E27FC236}">
                  <a16:creationId xmlns:a16="http://schemas.microsoft.com/office/drawing/2014/main" id="{5C6D5BE7-2ABC-7F4D-0B91-302E40AD4AB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" name="Google Shape;35;p6">
              <a:extLst>
                <a:ext uri="{FF2B5EF4-FFF2-40B4-BE49-F238E27FC236}">
                  <a16:creationId xmlns:a16="http://schemas.microsoft.com/office/drawing/2014/main" id="{2EE8F285-CBF6-4E28-226B-32D11FE0E6F8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9" name="Google Shape;36;p6">
                <a:extLst>
                  <a:ext uri="{FF2B5EF4-FFF2-40B4-BE49-F238E27FC236}">
                    <a16:creationId xmlns:a16="http://schemas.microsoft.com/office/drawing/2014/main" id="{0E6E54CA-94E4-7CC5-0095-996AFBEE8E58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C7A66299-BA3F-3D10-DAED-F3577DEE2CF3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F1141439-920D-B86B-56B5-F40C59C12B24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1EFB9185-4BD1-2005-E295-E1693BAB30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80D6B289-9157-D9F9-7289-A080C916915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77FAA3E0-8578-62AD-25DD-F9216F129827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D1F971C2-32E4-319B-C5D8-FBA6C2DF2A6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C3D9119A-1186-7F4C-7740-412DA27C272A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F025400F-2757-5645-87F2-EA279DB0C51F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A7F6333E-EA23-F28F-3FD6-AB7321AC8DF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 1">
  <p:cSld name="Title and Content (Copyright)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76914038f_0_934"/>
          <p:cNvSpPr txBox="1">
            <a:spLocks noGrp="1"/>
          </p:cNvSpPr>
          <p:nvPr>
            <p:ph type="body" idx="1"/>
          </p:nvPr>
        </p:nvSpPr>
        <p:spPr>
          <a:xfrm>
            <a:off x="838080" y="1461120"/>
            <a:ext cx="10514400" cy="47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3" name="Google Shape;43;g3676914038f_0_934"/>
          <p:cNvSpPr txBox="1">
            <a:spLocks noGrp="1"/>
          </p:cNvSpPr>
          <p:nvPr>
            <p:ph type="title"/>
          </p:nvPr>
        </p:nvSpPr>
        <p:spPr>
          <a:xfrm>
            <a:off x="720480" y="2884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26;p5">
            <a:extLst>
              <a:ext uri="{FF2B5EF4-FFF2-40B4-BE49-F238E27FC236}">
                <a16:creationId xmlns:a16="http://schemas.microsoft.com/office/drawing/2014/main" id="{A3330C2D-8D67-22A6-BFFA-65FDD8005A5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170030E6-A39D-979D-88C7-26D212786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3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76914038f_0_1455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3676914038f_0_1455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6DAB8CA9-1129-74FB-AEDC-8BC91B42B11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583D0995-A276-2B0E-8BDD-C57649A421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42DCBC93-E6BE-C6DB-F209-D9129F722A7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33;p6">
            <a:extLst>
              <a:ext uri="{FF2B5EF4-FFF2-40B4-BE49-F238E27FC236}">
                <a16:creationId xmlns:a16="http://schemas.microsoft.com/office/drawing/2014/main" id="{806F3B73-6921-B1A7-5E28-9639FE0256A1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" name="Google Shape;34;p6" descr="C:\Users\Satriya Dinata\Desktop\NTUST.png">
              <a:extLst>
                <a:ext uri="{FF2B5EF4-FFF2-40B4-BE49-F238E27FC236}">
                  <a16:creationId xmlns:a16="http://schemas.microsoft.com/office/drawing/2014/main" id="{61655A9D-4632-EB1B-4D2B-464A7899CE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35;p6">
              <a:extLst>
                <a:ext uri="{FF2B5EF4-FFF2-40B4-BE49-F238E27FC236}">
                  <a16:creationId xmlns:a16="http://schemas.microsoft.com/office/drawing/2014/main" id="{FF478F9C-D01A-B8C7-8C34-D318E6D70B1B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4" name="Google Shape;36;p6">
                <a:extLst>
                  <a:ext uri="{FF2B5EF4-FFF2-40B4-BE49-F238E27FC236}">
                    <a16:creationId xmlns:a16="http://schemas.microsoft.com/office/drawing/2014/main" id="{D50AA969-46A8-EB39-CD62-3607C6CC0A05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C7FD911F-B7B5-8CE5-2DEF-667D6CD5EA67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userDrawn="1">
  <p:cSld name="Default"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76914038f_0_1531"/>
          <p:cNvSpPr/>
          <p:nvPr/>
        </p:nvSpPr>
        <p:spPr>
          <a:xfrm>
            <a:off x="0" y="-20640"/>
            <a:ext cx="12193500" cy="629040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0000" tIns="121900" rIns="1200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g3676914038f_0_1531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4400" cy="2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6" name="Google Shape;56;g3676914038f_0_1531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44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9A9FC89E-A4ED-2085-48D0-7B4F39F26F30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64900D6A-B617-BEBA-DF72-9B657C3D65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216FD9FB-EA2C-729F-B92B-1FB989C38BD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33;p6">
            <a:extLst>
              <a:ext uri="{FF2B5EF4-FFF2-40B4-BE49-F238E27FC236}">
                <a16:creationId xmlns:a16="http://schemas.microsoft.com/office/drawing/2014/main" id="{71C336FE-3BF1-673C-99E0-9FB7DFA69CF5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" name="Google Shape;34;p6" descr="C:\Users\Satriya Dinata\Desktop\NTUST.png">
              <a:extLst>
                <a:ext uri="{FF2B5EF4-FFF2-40B4-BE49-F238E27FC236}">
                  <a16:creationId xmlns:a16="http://schemas.microsoft.com/office/drawing/2014/main" id="{235FE39E-E5C1-5C3B-ACF4-94934F9713E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35;p6">
              <a:extLst>
                <a:ext uri="{FF2B5EF4-FFF2-40B4-BE49-F238E27FC236}">
                  <a16:creationId xmlns:a16="http://schemas.microsoft.com/office/drawing/2014/main" id="{5C597715-271A-AA82-ABFE-03CDC5022F0E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4" name="Google Shape;36;p6">
                <a:extLst>
                  <a:ext uri="{FF2B5EF4-FFF2-40B4-BE49-F238E27FC236}">
                    <a16:creationId xmlns:a16="http://schemas.microsoft.com/office/drawing/2014/main" id="{8674BAF1-FAC6-5829-4D64-1138434C7265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E66229AB-69C3-5330-01BE-6E5494F7007E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76914038f_0_3523"/>
          <p:cNvSpPr/>
          <p:nvPr/>
        </p:nvSpPr>
        <p:spPr>
          <a:xfrm>
            <a:off x="0" y="-20640"/>
            <a:ext cx="12194400" cy="630714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g3676914038f_0_3523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5300" cy="28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676914038f_0_3523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53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C41C7628-FFF6-2ABC-BEA7-324094FF96E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0F1AE62D-00F5-8953-1865-F8AC322188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EC80AA30-1C81-949A-458B-26A074FCBC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33;p6">
            <a:extLst>
              <a:ext uri="{FF2B5EF4-FFF2-40B4-BE49-F238E27FC236}">
                <a16:creationId xmlns:a16="http://schemas.microsoft.com/office/drawing/2014/main" id="{16407416-A0CF-4621-4753-0730A92D0204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8" name="Google Shape;34;p6" descr="C:\Users\Satriya Dinata\Desktop\NTUST.png">
              <a:extLst>
                <a:ext uri="{FF2B5EF4-FFF2-40B4-BE49-F238E27FC236}">
                  <a16:creationId xmlns:a16="http://schemas.microsoft.com/office/drawing/2014/main" id="{A881F7BB-14F3-0AB4-868E-4B108448895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" name="Google Shape;35;p6">
              <a:extLst>
                <a:ext uri="{FF2B5EF4-FFF2-40B4-BE49-F238E27FC236}">
                  <a16:creationId xmlns:a16="http://schemas.microsoft.com/office/drawing/2014/main" id="{D74A3819-367A-EAE1-6A05-00F7BF358467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20" name="Google Shape;36;p6">
                <a:extLst>
                  <a:ext uri="{FF2B5EF4-FFF2-40B4-BE49-F238E27FC236}">
                    <a16:creationId xmlns:a16="http://schemas.microsoft.com/office/drawing/2014/main" id="{97B4033F-8360-FD18-7668-46B3F3F419EA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1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AEB8F53C-3601-18A6-AC6A-953B8BBB781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 rotWithShape="1">
          <a:blip>
            <a:alphaModFix/>
          </a:blip>
          <a:srcRect t="57579" b="40515"/>
          <a:stretch/>
        </p:blipFill>
        <p:spPr>
          <a:xfrm>
            <a:off x="0" y="4506693"/>
            <a:ext cx="12168000" cy="13063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  <a:defRPr sz="2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DC50175A-F1B9-9ABA-3898-75D5DC81C48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28BAD1AD-0BC9-A647-D204-5873DC938C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D319EB42-ED48-1647-B0BA-C723222E843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33;p6">
            <a:extLst>
              <a:ext uri="{FF2B5EF4-FFF2-40B4-BE49-F238E27FC236}">
                <a16:creationId xmlns:a16="http://schemas.microsoft.com/office/drawing/2014/main" id="{9274A046-C719-40A0-7CEE-F55B8C075B7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" name="Google Shape;34;p6" descr="C:\Users\Satriya Dinata\Desktop\NTUST.png">
              <a:extLst>
                <a:ext uri="{FF2B5EF4-FFF2-40B4-BE49-F238E27FC236}">
                  <a16:creationId xmlns:a16="http://schemas.microsoft.com/office/drawing/2014/main" id="{B0BBAE7C-4A5B-CC73-1460-7AC4DDB115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35;p6">
              <a:extLst>
                <a:ext uri="{FF2B5EF4-FFF2-40B4-BE49-F238E27FC236}">
                  <a16:creationId xmlns:a16="http://schemas.microsoft.com/office/drawing/2014/main" id="{A3B3B346-AB58-1374-EE51-69EE80062BE6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4" name="Google Shape;36;p6">
                <a:extLst>
                  <a:ext uri="{FF2B5EF4-FFF2-40B4-BE49-F238E27FC236}">
                    <a16:creationId xmlns:a16="http://schemas.microsoft.com/office/drawing/2014/main" id="{44111EE8-2E88-F72A-C9D7-7E5EF07F669A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0AE0A309-EFE5-CA07-9359-17F2A4D7DBFD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Copyright)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10824851-6321-250E-DD0F-2F24E0DB8FCD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AFB8C088-CB03-CAFB-5427-8729C61C7B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7834938A-6971-2037-7599-A4B2F39551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33;p6">
            <a:extLst>
              <a:ext uri="{FF2B5EF4-FFF2-40B4-BE49-F238E27FC236}">
                <a16:creationId xmlns:a16="http://schemas.microsoft.com/office/drawing/2014/main" id="{A94FC654-F7F2-80BC-A528-2387FA9E50EB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" name="Google Shape;34;p6" descr="C:\Users\Satriya Dinata\Desktop\NTUST.png">
              <a:extLst>
                <a:ext uri="{FF2B5EF4-FFF2-40B4-BE49-F238E27FC236}">
                  <a16:creationId xmlns:a16="http://schemas.microsoft.com/office/drawing/2014/main" id="{F5CAB74F-60CC-0C71-D60F-B0565A898F6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35;p6">
              <a:extLst>
                <a:ext uri="{FF2B5EF4-FFF2-40B4-BE49-F238E27FC236}">
                  <a16:creationId xmlns:a16="http://schemas.microsoft.com/office/drawing/2014/main" id="{6E6B4D83-CA57-4E81-1F26-FD8045F77C55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4" name="Google Shape;36;p6">
                <a:extLst>
                  <a:ext uri="{FF2B5EF4-FFF2-40B4-BE49-F238E27FC236}">
                    <a16:creationId xmlns:a16="http://schemas.microsoft.com/office/drawing/2014/main" id="{8DA5E0B9-FA1F-2EDF-1EF0-73F1F34A8C5F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A81D8A13-755A-2BEB-4AD3-C5C5A8D33541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838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2"/>
          </p:nvPr>
        </p:nvSpPr>
        <p:spPr>
          <a:xfrm>
            <a:off x="6172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0509C2AF-C2D7-2645-748C-4DD60A80F9C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AB3B917B-3037-44C2-51A2-AFF398E107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F3A12367-7BFA-D871-92C7-8407F73F481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6184C053-15BF-FC62-8A37-FBAD271CAF7A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6AF07197-499B-42C3-B3FA-536053C764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5082F330-8AB9-6095-6924-CF08DC1A7241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6477B0EC-65B0-6FE0-432B-69894256530A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3D8F1A1-D253-03DE-65DB-961AFFB293BA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9DA8A082-3E1B-F136-4537-765B2682706E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F8BA62CA-32D4-A99F-2503-D46B2CE0C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05329B37-EE00-D82E-F7F5-C086E05DE0C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73A23409-3218-238F-A087-B26731E49D76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06F79715-041E-EA5E-2DAD-8CF099EA9DA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EF4CD802-F675-BB28-DE43-B6CA4F776B69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3D98CF4D-90A1-4722-6EB0-7F8BC9BB1564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BFBCF790-7D68-3916-DEB2-DFF50530C33F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1577BDAB-5520-6AA3-FE05-41B0E248D1B1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D5D5E09D-5668-3233-B388-623101BF84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4C0EE980-988A-7ABF-5136-4AEFF17997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40EFD163-7C22-DCF3-26CE-82F2FC00A7A2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619B0A97-8C90-81DA-D0DC-4290A15A25C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2D561867-283E-CA5B-6E11-AC4C2469B149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3DD2DF08-9385-8AC4-EAC0-F0B331583FA3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FBB86F13-45CF-81DE-ECD0-8B64E3DDDCE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76914038f_0_941"/>
          <p:cNvSpPr txBox="1">
            <a:spLocks noGrp="1"/>
          </p:cNvSpPr>
          <p:nvPr>
            <p:ph type="title"/>
          </p:nvPr>
        </p:nvSpPr>
        <p:spPr>
          <a:xfrm>
            <a:off x="415680" y="5932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3676914038f_0_941"/>
          <p:cNvSpPr txBox="1">
            <a:spLocks noGrp="1"/>
          </p:cNvSpPr>
          <p:nvPr>
            <p:ph type="body" idx="1"/>
          </p:nvPr>
        </p:nvSpPr>
        <p:spPr>
          <a:xfrm>
            <a:off x="41568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3676914038f_0_941"/>
          <p:cNvSpPr txBox="1">
            <a:spLocks noGrp="1"/>
          </p:cNvSpPr>
          <p:nvPr>
            <p:ph type="body" idx="2"/>
          </p:nvPr>
        </p:nvSpPr>
        <p:spPr>
          <a:xfrm>
            <a:off x="644304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26;p5">
            <a:extLst>
              <a:ext uri="{FF2B5EF4-FFF2-40B4-BE49-F238E27FC236}">
                <a16:creationId xmlns:a16="http://schemas.microsoft.com/office/drawing/2014/main" id="{6AB867BD-EA2E-662C-6139-B6182D2FA105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5;g38f16cf198e_0_26">
            <a:extLst>
              <a:ext uri="{FF2B5EF4-FFF2-40B4-BE49-F238E27FC236}">
                <a16:creationId xmlns:a16="http://schemas.microsoft.com/office/drawing/2014/main" id="{FF6337F2-CEE0-3571-8FD0-C211BA7D49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16A6ED30-F391-C7E3-1D24-7C22E0BA43A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D4BF99C5-9367-0EF4-FAB8-6E916BB27520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8D750FA8-A649-8CD7-C608-8D47300B39C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112DA28D-CAC6-E698-94D7-DF4232CCADFB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6563C2C5-B69D-D7DC-B604-3D07D71504DF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59B6A4B0-8F49-6BE2-154D-F7911DBABE0D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">
  <p:cSld name="TITLE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6914038f_0_952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76914038f_0_952"/>
          <p:cNvSpPr txBox="1">
            <a:spLocks noGrp="1"/>
          </p:cNvSpPr>
          <p:nvPr>
            <p:ph type="subTitle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A9435812-1F69-67A2-D74D-B5FFF06047A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821914B8-AE13-DC8B-942D-216A22ACC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F66907DF-9145-513D-72AA-FE8EEA304D1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04B71436-0C78-68FB-5B85-3C668FD3BCBD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E56AFD1A-0D3E-BD89-D14F-833BB898C0E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2D818813-DDA2-8691-5B11-D5326DA2987C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66438487-694A-9B4F-2EC3-FB3FDC22354E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8D40AC1B-725C-80E6-46B0-AE98874D73A5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2"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76914038f_0_956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g3676914038f_0_956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3B0C641B-45E8-AF60-39DD-12DA8211261B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7BD596B0-57CA-7CCF-7CB0-C07D2B6939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8BA6DF4B-623E-FB96-BB28-F0BF1FAE6BD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33;p6">
            <a:extLst>
              <a:ext uri="{FF2B5EF4-FFF2-40B4-BE49-F238E27FC236}">
                <a16:creationId xmlns:a16="http://schemas.microsoft.com/office/drawing/2014/main" id="{E13EAD15-E8E3-6391-77F9-530149D2F124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" name="Google Shape;34;p6" descr="C:\Users\Satriya Dinata\Desktop\NTUST.png">
              <a:extLst>
                <a:ext uri="{FF2B5EF4-FFF2-40B4-BE49-F238E27FC236}">
                  <a16:creationId xmlns:a16="http://schemas.microsoft.com/office/drawing/2014/main" id="{C1D96711-AB14-23FE-EB88-E622ADF206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35;p6">
              <a:extLst>
                <a:ext uri="{FF2B5EF4-FFF2-40B4-BE49-F238E27FC236}">
                  <a16:creationId xmlns:a16="http://schemas.microsoft.com/office/drawing/2014/main" id="{15E478E5-4413-CDAA-C3FD-B13828C212B0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4" name="Google Shape;36;p6">
                <a:extLst>
                  <a:ext uri="{FF2B5EF4-FFF2-40B4-BE49-F238E27FC236}">
                    <a16:creationId xmlns:a16="http://schemas.microsoft.com/office/drawing/2014/main" id="{F6806AE0-12FD-1885-9DEB-342B9F563587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040D3C8F-F829-C9D9-1E74-6F3DEC4232E7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649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9.11079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xiv.org/abs/2510.04618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4.03360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f16cf198e_0_26"/>
          <p:cNvSpPr/>
          <p:nvPr/>
        </p:nvSpPr>
        <p:spPr>
          <a:xfrm>
            <a:off x="0" y="-15676"/>
            <a:ext cx="103692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f16cf198e_0_26"/>
          <p:cNvSpPr/>
          <p:nvPr/>
        </p:nvSpPr>
        <p:spPr>
          <a:xfrm rot="10800000">
            <a:off x="1824300" y="-17776"/>
            <a:ext cx="103677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f16cf198e_0_26"/>
          <p:cNvSpPr txBox="1">
            <a:spLocks noGrp="1"/>
          </p:cNvSpPr>
          <p:nvPr>
            <p:ph type="subTitle" idx="4294967295"/>
          </p:nvPr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fr-CH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Rui Vieira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en-US" sz="1600" dirty="0">
                <a:solidFill>
                  <a:schemeClr val="tx1"/>
                </a:solidFill>
              </a:rPr>
              <a:t>October 16, 2025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58" name="Google Shape;158;g38f16cf198e_0_26"/>
          <p:cNvSpPr txBox="1">
            <a:spLocks noGrp="1"/>
          </p:cNvSpPr>
          <p:nvPr>
            <p:ph type="ctrTitle" idx="4294967295"/>
          </p:nvPr>
        </p:nvSpPr>
        <p:spPr>
          <a:xfrm>
            <a:off x="0" y="2459023"/>
            <a:ext cx="12192000" cy="19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434343"/>
                </a:solidFill>
              </a:rPr>
              <a:t>SOTA and Best Practices</a:t>
            </a:r>
            <a:br>
              <a:rPr lang="en-US" b="1" dirty="0">
                <a:solidFill>
                  <a:srgbClr val="434343"/>
                </a:solidFill>
              </a:rPr>
            </a:br>
            <a:r>
              <a:rPr lang="en-US" sz="1800" dirty="0">
                <a:solidFill>
                  <a:srgbClr val="434343"/>
                </a:solidFill>
              </a:rPr>
              <a:t>Agents for Hardware Optimization in RAG+LLM System   </a:t>
            </a:r>
            <a:br>
              <a:rPr lang="en-US" b="1" dirty="0">
                <a:solidFill>
                  <a:srgbClr val="434343"/>
                </a:solidFill>
              </a:rPr>
            </a:br>
            <a:endParaRPr b="1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F642-7619-1067-F728-8387DD46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g38f16cf198e_0_16">
            <a:extLst>
              <a:ext uri="{FF2B5EF4-FFF2-40B4-BE49-F238E27FC236}">
                <a16:creationId xmlns:a16="http://schemas.microsoft.com/office/drawing/2014/main" id="{2E409DA7-CD82-136C-DA8F-FF27E6992A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27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br>
              <a:rPr lang="en-US" sz="4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chemeClr val="tx2">
                    <a:lumMod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Layers and features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FEAB860-32D2-CF7A-8588-59B5D9C42A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10FAA7-8E94-6E27-1BEF-9D5A43E79D9B}"/>
                  </a:ext>
                </a:extLst>
              </p14:cNvPr>
              <p14:cNvContentPartPr/>
              <p14:nvPr/>
            </p14:nvContentPartPr>
            <p14:xfrm>
              <a:off x="5481257" y="276329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10FAA7-8E94-6E27-1BEF-9D5A43E79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137" y="275717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11FAF26-2970-0F2E-AD31-489414CC72E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6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C095-45F7-F1B5-A7A4-C01EB4CA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4AEFA-5A8C-0E6C-8F6A-AC742ADF0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69BE4-7EAB-2574-F032-E3585D27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  <a:sym typeface="Wingdings" pitchFamily="2" charset="2"/>
              </a:rPr>
              <a:t>Modern RAG Stages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A7EFF-B312-215D-3C55-2817C0D2F2FE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762EA-2491-FB89-9112-B8A55C1D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16" y="1318491"/>
            <a:ext cx="4744568" cy="44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7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E08D2-36E3-2DEF-80FE-636E21B684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EE5906-6980-BC34-E560-AE7ABF5D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  <a:sym typeface="Wingdings" pitchFamily="2" charset="2"/>
              </a:rPr>
              <a:t>0 Naïve LLM</a:t>
            </a:r>
            <a:r>
              <a:rPr lang="en-US" b="0" dirty="0">
                <a:solidFill>
                  <a:srgbClr val="3366CC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7BAA4-8FA1-8DF9-1E9A-0FF7292F7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26" y="1889760"/>
            <a:ext cx="2860148" cy="153924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53948C5-5B5A-5567-01DF-5DB667ABF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3753" y="3429000"/>
            <a:ext cx="5257800" cy="2747963"/>
          </a:xfrm>
        </p:spPr>
        <p:txBody>
          <a:bodyPr>
            <a:noAutofit/>
          </a:bodyPr>
          <a:lstStyle/>
          <a:p>
            <a:pPr marL="11430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LLM with no context only ‘trained knowledge’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9EF1CB-0EF0-95F0-BB32-E958CB1642FE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8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C524-5BBC-86EC-0460-B005C2AE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A978-8AA4-8163-8870-331292397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F84822-66DF-14E3-2FC5-57F6EC03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1 Naïve RAG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A7B0CDD-E499-C631-BCA8-6E426131A39A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/>
              <a:t>Problem</a:t>
            </a:r>
            <a:r>
              <a:rPr lang="en-US" sz="1400" dirty="0"/>
              <a:t>: LLM doesn't know about our documents</a:t>
            </a:r>
            <a:br>
              <a:rPr lang="en-US" sz="1400" dirty="0"/>
            </a:br>
            <a:r>
              <a:rPr lang="en-US" sz="1400" b="1" dirty="0"/>
              <a:t>Solution</a:t>
            </a:r>
            <a:r>
              <a:rPr lang="en-US" sz="1400" dirty="0"/>
              <a:t>: Send document content with the question 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  <a:p>
            <a:pPr marL="114300" indent="0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400" dirty="0"/>
              <a:t>1. Upload documents</a:t>
            </a:r>
            <a:br>
              <a:rPr lang="en-US" sz="1400" dirty="0"/>
            </a:br>
            <a:r>
              <a:rPr lang="en-US" sz="1400" dirty="0"/>
              <a:t>  2. For each question, search ALL documents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3FE646E-EF6D-9261-2EE1-AC693C6E6C5A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gives 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LLM can reference your documents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Grounded answers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(not hallucinated)</a:t>
            </a:r>
          </a:p>
          <a:p>
            <a:pPr marL="460375" indent="-346075"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0375" indent="-346075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	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 limit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Can't fit 1000 documents in prompt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Irrelevant context 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Sending everything confuses LLM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Slow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Loading all documents every time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Expensive.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Huge token costs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C4295E-C389-B821-4BE4-1C839FDFC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04" y="1134659"/>
            <a:ext cx="3603897" cy="22943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536898-C16B-E36F-56A4-33C92403288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1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4169-4644-2C6E-E1A1-63EE47DB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2F9F7-4CB3-209F-9B68-F3F5A291E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07CCD2-BA53-98E6-2C64-29A0779B2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2 Retriever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1AC412-75E2-95E6-EAF6-44CAD893B7DD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Can't send all documents, need to find relevant ones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Semantic search using embeddings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Index documents by embedding them (vectorizing them)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2. Query-time retrieval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a) prompt – documents similarity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b) finds the k-most similar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c) builds context from them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3. Answer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73DC6BB-58E7-CD3D-9E59-6DE3CB1D683D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Embedding Model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Converts text → vector (768-dim)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Vector Store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In-memory list (later: Milvus/Pinecone)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Similarity Search	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Cosine similarity find relevant docs</a:t>
            </a:r>
          </a:p>
          <a:p>
            <a:pPr marL="460375" indent="-346075"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0375" indent="-346075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	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/>
              <a:t>Chunking 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Documents too long for single embedding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Lost semantics 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Long docs lose nuance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Scalability 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In-memory won't scale to millions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ECA5DC-7DEC-642D-BA15-4A4AAC579F2A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AC9B6-58E9-8F35-AF3C-C6808039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411" y="523149"/>
            <a:ext cx="2989943" cy="290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0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0524-E47F-82C2-41A7-3B6DDA58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7B05-0C81-B441-815B-C3F5269B18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606D7D-2DD4-8CF8-E491-47626B3D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3 Chunking strategy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DB4DB12-96FF-09F1-FC97-0C6125183489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Documents are too long, embeddings lose meaning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Split documents into semantic chunks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Index documents by embedding them (vectorizing them)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2. Query-time retrieval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a) prompt – documents similarity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b) finds the k-most similar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c) builds context from them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3. Answer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8CC1111-88CB-152E-BD6E-82AB5561C285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Chunking Logic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Sliding window with overlap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Metadata Preservation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source document, page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Granular Retrieval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Fetch specific paragraphs, not whole docs</a:t>
            </a:r>
          </a:p>
          <a:p>
            <a:pPr marL="466725" indent="-352425">
              <a:buNone/>
            </a:pP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6725" indent="-352425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	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/>
              <a:t>Optimal chunk size? 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512 tokens? 1024? Depends on use case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Semantic boundaries 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May split mid-sentence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List context</a:t>
            </a:r>
            <a:r>
              <a:rPr lang="en-US" sz="1400" dirty="0"/>
              <a:t>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Chunk may lack surrounding context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C465A4-FB47-F664-1355-516E646C30CD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8A3BB5-505A-AEF1-97FF-6D2ADDA8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611" y="294775"/>
            <a:ext cx="3704084" cy="313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6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A468-4129-2A81-7CCE-B9FD3C6F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F34B3-EBB4-AA90-7163-827DC7E0F9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1DAC6B-A968-CA4E-F31C-CC74952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4 Vector database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FD5E4D-865C-B34E-C526-71BF562AC5E9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In-memory vector store only – not saved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‘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Production’ vector database (Milvus, Pinecone,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Weaviate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 : </a:t>
            </a:r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Connects</a:t>
            </a:r>
          </a:p>
          <a:p>
            <a:pPr marL="573088" indent="-458788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2. Define storage schema and index</a:t>
            </a:r>
          </a:p>
          <a:p>
            <a:pPr marL="573088" indent="-458788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3. Insert ‘chunks’</a:t>
            </a:r>
          </a:p>
          <a:p>
            <a:pPr marL="573088" indent="-458788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4. Embed and save</a:t>
            </a: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7E1640-543D-5AF1-A665-73389D61D767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Vector database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Persistence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survives restart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Search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Accelerated via GPU</a:t>
            </a:r>
          </a:p>
          <a:p>
            <a:pPr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E8484B-493D-5AB6-51E2-B1F6F0700AA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F62D7-DDA9-6B00-A8F2-CA5EE814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298" y="400236"/>
            <a:ext cx="3126709" cy="302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8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5D26-014D-5E3D-0031-1F267918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D22F-7988-BDCD-1E14-F8597FAEFA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F1DB8F-B090-0466-A399-A904FD2D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5 Adding Metadata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BDC8D70-000A-58CC-2881-8ED3E4488A05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We want to search only specific document types or dates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Rich metadata + filtered search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 : 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List Metadata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2. Filter by search</a:t>
            </a: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6CC65B5-1A15-E931-1997-E68578429FEA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Scoped search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Compliance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(restrict by access level)</a:t>
            </a:r>
          </a:p>
          <a:p>
            <a:pPr marL="460375" indent="-346075"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15694-1B65-FEDA-0243-49CFAB8921A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1449E2-9A2C-2867-D034-2FD8BEA2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62" y="393834"/>
            <a:ext cx="3832981" cy="303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2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2732E-2597-7AEC-6540-E7094DF6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C346-80C8-C156-D6CE-672F597BB5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B2240A-0C3A-688C-21B3-635CC763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6 Hybrid Search (Sparse + Dense)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50CEECD-558A-B881-3210-F08850C7A630}"/>
              </a:ext>
            </a:extLst>
          </p:cNvPr>
          <p:cNvSpPr txBox="1">
            <a:spLocks/>
          </p:cNvSpPr>
          <p:nvPr/>
        </p:nvSpPr>
        <p:spPr>
          <a:xfrm>
            <a:off x="831546" y="1268137"/>
            <a:ext cx="6102652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Vector search fails on exact keywords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Combine semantic search (vectors) + keyword search (BM25)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 : 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  <a:p>
            <a:pPr marL="114300" indent="0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Index keywords search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2. Evaluate scores between sparse and dense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3. Return top K- Results </a:t>
            </a:r>
          </a:p>
          <a:p>
            <a:pPr marL="573088" indent="-458788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BM25 Index: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TF-IDF based keyword search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Reciprocal Rank Fusion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Combines rankings from both methods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Alpha Parameter: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Weight : semantic (0.5) vs keyword (0.5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BD87E1-90BA-3B87-F7B7-C22AD505992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D7CF9-6D70-0CF6-6861-876F81217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158896"/>
            <a:ext cx="3867150" cy="61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1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8B63-8C16-54CB-94AD-440FF23D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F48F-45AD-0EF8-556E-488602B38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E43B9-DF65-F0CE-A8BE-94582778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7 Post-Retrieval Optimization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402A8BF-F0B1-14F2-D629-71358A621A39}"/>
              </a:ext>
            </a:extLst>
          </p:cNvPr>
          <p:cNvSpPr txBox="1">
            <a:spLocks/>
          </p:cNvSpPr>
          <p:nvPr/>
        </p:nvSpPr>
        <p:spPr>
          <a:xfrm>
            <a:off x="831546" y="1268137"/>
            <a:ext cx="6102652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Top-5 chunks may have redundancy or noise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and compress before sending to LLM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  <a:p>
            <a:pPr marL="114300" indent="0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Retrieve chunks </a:t>
            </a: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2.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	3. Remove duplicate / similar sentences </a:t>
            </a:r>
          </a:p>
          <a:p>
            <a:pPr marL="573088" indent="-458788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4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Reranker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Cross-encoder model (more accurate than bi-encoder</a:t>
            </a:r>
          </a:p>
          <a:p>
            <a:pPr marL="573088" indent="-458788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Compression: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Deduplication, removes noise</a:t>
            </a:r>
          </a:p>
          <a:p>
            <a:pPr marL="573088" indent="-458788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Two-stage retrieval: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 retrieval (10) → Slow reranking (5)</a:t>
            </a:r>
          </a:p>
          <a:p>
            <a:pPr marL="573088" indent="-458788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224CD-7963-ED31-346F-068E2727FBE1}"/>
              </a:ext>
            </a:extLst>
          </p:cNvPr>
          <p:cNvSpPr/>
          <p:nvPr/>
        </p:nvSpPr>
        <p:spPr>
          <a:xfrm>
            <a:off x="78059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1D793-1A39-8FF4-9E6F-42603DAE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485" y="888276"/>
            <a:ext cx="4042060" cy="508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4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88BF-38AF-E3F5-8540-C6BAA82B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B0800-5902-4761-F5EA-F7D0617ED9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5B44B4-BD2D-E340-9219-E4F01B67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7 Post-Retrieval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E95C6-1594-02B4-8E10-99C6702275FF}"/>
              </a:ext>
            </a:extLst>
          </p:cNvPr>
          <p:cNvSpPr/>
          <p:nvPr/>
        </p:nvSpPr>
        <p:spPr>
          <a:xfrm>
            <a:off x="78059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2E613-8699-CADA-5B6D-B63816981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20981"/>
            <a:ext cx="4801268" cy="3828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A0F67-018F-ECA5-5BEE-C26BF4975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32" y="1620981"/>
            <a:ext cx="4801268" cy="3570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60B1D1-AB32-6E45-8834-2B0D88A3B16A}"/>
              </a:ext>
            </a:extLst>
          </p:cNvPr>
          <p:cNvSpPr txBox="1"/>
          <p:nvPr/>
        </p:nvSpPr>
        <p:spPr>
          <a:xfrm>
            <a:off x="651164" y="55680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text is encoded </a:t>
            </a:r>
            <a:r>
              <a:rPr lang="en-US" b="1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independently</a:t>
            </a:r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query encoder never sees the document content during encoding.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0F1E1-C63F-D682-ED05-EDF1897EBF7D}"/>
              </a:ext>
            </a:extLst>
          </p:cNvPr>
          <p:cNvSpPr txBox="1"/>
          <p:nvPr/>
        </p:nvSpPr>
        <p:spPr>
          <a:xfrm>
            <a:off x="6358703" y="55680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Query and document are encoded </a:t>
            </a:r>
            <a:r>
              <a:rPr lang="en-US" b="1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together</a:t>
            </a:r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444D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model sees both at the same time, so it can learn interactions.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10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BDC6-8BAB-DF36-97A3-F6C02E2F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26062-4B3F-A5E4-ED76-B92194704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E87EEF-41DA-2F1A-F858-749EBDE9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8 Pre-Retrieval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47303E-CEED-1898-3C99-B32F11B7884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2444A1-2359-F079-9012-709E55C84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26" y="665313"/>
            <a:ext cx="4245251" cy="552737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BEED7-7C48-FCC1-2C6D-A6D5405A4574}"/>
              </a:ext>
            </a:extLst>
          </p:cNvPr>
          <p:cNvSpPr txBox="1">
            <a:spLocks/>
          </p:cNvSpPr>
          <p:nvPr/>
        </p:nvSpPr>
        <p:spPr>
          <a:xfrm>
            <a:off x="838200" y="2055018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-Query Expansion: Adds related terms</a:t>
            </a: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-Contextualization: Resolves pronouns/references from conversation</a:t>
            </a: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Multi-Query: Generates alternative phrasings, searches with all</a:t>
            </a:r>
          </a:p>
          <a:p>
            <a:pPr>
              <a:buNone/>
            </a:pP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3825" indent="-9525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Problem: User queries are often ambiguous or poorly phrased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Solution: Query enhancement before retrieval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02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40D4-0317-56FB-53DC-08ACEEAA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277B4-84A4-68EE-6B50-403FBC0907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16167-0A27-6A0C-B881-BA61134A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9 Graph-Based Retrieval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A14EB9-728F-E6FD-A0F7-FADDABF3D294}"/>
              </a:ext>
            </a:extLst>
          </p:cNvPr>
          <p:cNvSpPr txBox="1">
            <a:spLocks/>
          </p:cNvSpPr>
          <p:nvPr/>
        </p:nvSpPr>
        <p:spPr>
          <a:xfrm>
            <a:off x="844853" y="1268137"/>
            <a:ext cx="69342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Pure vector search misses relationships (e.g., "Who reported to John in 2023?")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Knowledge graph with entities + relationships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 :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67048D-D1C5-FD34-1656-667397D0A1A7}"/>
              </a:ext>
            </a:extLst>
          </p:cNvPr>
          <p:cNvSpPr txBox="1">
            <a:spLocks/>
          </p:cNvSpPr>
          <p:nvPr/>
        </p:nvSpPr>
        <p:spPr>
          <a:xfrm>
            <a:off x="838200" y="3885061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  <a:p>
            <a:pPr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0375" indent="-346075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	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7459D-BB10-7EDD-06E1-BCF8060474AA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2AC1E-3173-22D7-2D90-E5CE72C22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682" y="143625"/>
            <a:ext cx="3464859" cy="603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34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39CA-9436-540B-1C0D-FA4EE400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822BB-CE3B-23DD-F4EB-5DAC69936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0276EA-61AE-B70A-3A82-9A954728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8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1FCE97-C616-73CF-3131-2BDFA60471A2}"/>
              </a:ext>
            </a:extLst>
          </p:cNvPr>
          <p:cNvSpPr txBox="1">
            <a:spLocks/>
          </p:cNvSpPr>
          <p:nvPr/>
        </p:nvSpPr>
        <p:spPr>
          <a:xfrm>
            <a:off x="844853" y="3429000"/>
            <a:ext cx="5257800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Problem: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Solution: 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LLM :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458788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F8C6BA-A3E6-E23D-D412-A2C6A4C3C02B}"/>
              </a:ext>
            </a:extLst>
          </p:cNvPr>
          <p:cNvSpPr txBox="1">
            <a:spLocks/>
          </p:cNvSpPr>
          <p:nvPr/>
        </p:nvSpPr>
        <p:spPr>
          <a:xfrm>
            <a:off x="6089346" y="3429000"/>
            <a:ext cx="6102653" cy="274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This Adds 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  <a:p>
            <a:pPr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0375" indent="-346075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	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b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A2D49E-981B-1DFA-59E9-2FBC9373B07A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37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5770-7F9F-29D7-03B5-5AF93803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g38f16cf198e_0_16">
            <a:extLst>
              <a:ext uri="{FF2B5EF4-FFF2-40B4-BE49-F238E27FC236}">
                <a16:creationId xmlns:a16="http://schemas.microsoft.com/office/drawing/2014/main" id="{D241258A-CF3F-6F08-9012-2660DFC127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27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SOTA</a:t>
            </a:r>
            <a:br>
              <a:rPr lang="en-US" sz="4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chemeClr val="tx2">
                    <a:lumMod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8CBFC29-84FF-DE6D-AC3D-BE8CC6C32C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CFD5C0-A1E7-D816-BEC3-C81F9699B21C}"/>
                  </a:ext>
                </a:extLst>
              </p14:cNvPr>
              <p14:cNvContentPartPr/>
              <p14:nvPr/>
            </p14:nvContentPartPr>
            <p14:xfrm>
              <a:off x="5481257" y="276329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CFD5C0-A1E7-D816-BEC3-C81F9699B2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137" y="27571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9730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5346-833B-DC64-6145-DD2F1963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AE819BC-B8FB-DC09-3371-FAFD1FD92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Thesis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How agents may leverage hardware optimization and sustainable resource management in a RAG System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Last 2 weeks progress</a:t>
            </a:r>
          </a:p>
          <a:p>
            <a:r>
              <a:rPr lang="en-US" sz="1800" dirty="0">
                <a:solidFill>
                  <a:schemeClr val="tx1"/>
                </a:solidFill>
              </a:rPr>
              <a:t>RAG understanding  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(query → embed → retrieve → generate 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  <a:sym typeface="Wingdings" pitchFamily="2" charset="2"/>
              </a:rPr>
              <a:t> Answer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en-US" sz="1800" dirty="0">
                <a:solidFill>
                  <a:schemeClr val="tx1"/>
                </a:solidFill>
              </a:rPr>
              <a:t>Agents learning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Literature - State of the art</a:t>
            </a:r>
          </a:p>
          <a:p>
            <a:r>
              <a:rPr lang="en-US" sz="1800" dirty="0">
                <a:solidFill>
                  <a:schemeClr val="tx1"/>
                </a:solidFill>
              </a:rPr>
              <a:t>Gaps finding 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FCAC0-81FC-4E1D-70E6-BB012ACD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573B0-EAD1-4FB2-CB74-343C5C187B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25642-0E21-8EAD-FBC6-F4A4603BC490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53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61292-55C1-EEF1-1871-D6DBCA86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A976E37-75CA-6F98-0F3C-A77649FB7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State-of-the-art and Best Practices Decomposition </a:t>
            </a:r>
          </a:p>
          <a:p>
            <a:r>
              <a:rPr lang="en-US" sz="1800" dirty="0">
                <a:solidFill>
                  <a:schemeClr val="tx1"/>
                </a:solidFill>
              </a:rPr>
              <a:t>Agents </a:t>
            </a:r>
          </a:p>
          <a:p>
            <a:r>
              <a:rPr lang="en-US" sz="1800" dirty="0">
                <a:solidFill>
                  <a:schemeClr val="tx1"/>
                </a:solidFill>
              </a:rPr>
              <a:t>Hardware </a:t>
            </a:r>
          </a:p>
          <a:p>
            <a:r>
              <a:rPr lang="en-US" sz="1800" dirty="0">
                <a:solidFill>
                  <a:schemeClr val="tx1"/>
                </a:solidFill>
              </a:rPr>
              <a:t>RAG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55776-402D-9D19-D2E8-2B7709E9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AAA9E-D021-DAA8-B603-A5D5B78E2F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44AD11-BFB0-0CC0-F110-3C894407A907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39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4A59-2C52-CEBE-07DC-894CE452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893C760-0B53-A176-A0B5-51D8EF921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5EB87-3225-95F9-C077-0AB23292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RAG &amp; retrieval efficiency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8C1FA-E305-C685-0564-1E6EE8882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C1F80-0F6E-0770-125E-752507AEA75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60316-053D-63F4-3C23-699E5E63D5F7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800" b="1" dirty="0"/>
              <a:t>Hybrid retrieval with BGE-M3 </a:t>
            </a:r>
            <a:r>
              <a:rPr lang="en-US" sz="1800" dirty="0"/>
              <a:t>(dense + sparse)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Already implemented</a:t>
            </a:r>
            <a:br>
              <a:rPr lang="en-US" sz="1800" b="1" dirty="0"/>
            </a:br>
            <a:r>
              <a:rPr lang="en-US" sz="1800" dirty="0"/>
              <a:t>best accuracy/recall but adds CPU work (tokenization, scoring merges).</a:t>
            </a:r>
            <a:br>
              <a:rPr lang="en-US" sz="1800" dirty="0"/>
            </a:br>
            <a:br>
              <a:rPr lang="en-US" sz="1800" dirty="0"/>
            </a:br>
            <a:r>
              <a:rPr lang="en-US" sz="1800" i="1" dirty="0"/>
              <a:t>Leads, What to try now </a:t>
            </a:r>
            <a:r>
              <a:rPr lang="en-US" sz="1800" dirty="0"/>
              <a:t>: tune params, multiphase ranking </a:t>
            </a:r>
          </a:p>
          <a:p>
            <a:pPr marL="114300" indent="0">
              <a:buFont typeface="Arial"/>
              <a:buNone/>
            </a:pPr>
            <a:endParaRPr lang="en-US" sz="1800" b="1" dirty="0"/>
          </a:p>
          <a:p>
            <a:pPr marL="114300" indent="0">
              <a:buFont typeface="Arial"/>
              <a:buNone/>
            </a:pPr>
            <a:endParaRPr lang="en-US" sz="1800" dirty="0"/>
          </a:p>
          <a:p>
            <a:pPr marL="114300" indent="0">
              <a:buFont typeface="Arial"/>
              <a:buNone/>
            </a:pPr>
            <a:r>
              <a:rPr lang="en-US" sz="1800" b="1" dirty="0"/>
              <a:t>Hardware paths</a:t>
            </a:r>
            <a:r>
              <a:rPr lang="en-US" sz="1800" dirty="0"/>
              <a:t>:</a:t>
            </a:r>
          </a:p>
          <a:p>
            <a:pPr>
              <a:buFontTx/>
              <a:buChar char="-"/>
            </a:pPr>
            <a:r>
              <a:rPr lang="en-US" sz="1800" b="1" dirty="0"/>
              <a:t>CPU SIMD/AVX-512</a:t>
            </a:r>
            <a:r>
              <a:rPr lang="en-US" sz="1800" dirty="0"/>
              <a:t> (Stay in CPU but use different instruction sets)</a:t>
            </a:r>
            <a:br>
              <a:rPr lang="en-US" sz="1800" dirty="0"/>
            </a:br>
            <a:r>
              <a:rPr lang="en-US" sz="1800" dirty="0"/>
              <a:t>for vector ops can beat naïve GPU offload for small batches.</a:t>
            </a:r>
          </a:p>
          <a:p>
            <a:pPr>
              <a:buFontTx/>
              <a:buChar char="-"/>
            </a:pPr>
            <a:r>
              <a:rPr lang="en-US" sz="1800" b="1" dirty="0"/>
              <a:t>Milvus GPU </a:t>
            </a:r>
            <a:r>
              <a:rPr lang="en-US" sz="1800" dirty="0"/>
              <a:t>only pays off when enough data at once</a:t>
            </a:r>
            <a:br>
              <a:rPr lang="en-US" sz="1800" dirty="0"/>
            </a:br>
            <a:r>
              <a:rPr lang="en-US" sz="1800" dirty="0"/>
              <a:t>For small or few queries CPU wins</a:t>
            </a:r>
          </a:p>
          <a:p>
            <a:pPr marL="114300" indent="0">
              <a:buFont typeface="Arial"/>
              <a:buNone/>
            </a:pPr>
            <a:endParaRPr lang="en-US" sz="1800" dirty="0"/>
          </a:p>
          <a:p>
            <a:pPr marL="114300" indent="0">
              <a:buFont typeface="Arial"/>
              <a:buNone/>
            </a:pPr>
            <a:r>
              <a:rPr lang="en-US" sz="1800" b="1" dirty="0"/>
              <a:t>Caching/rehydration</a:t>
            </a:r>
            <a:br>
              <a:rPr lang="en-US" sz="1800" b="1" dirty="0"/>
            </a:br>
            <a:r>
              <a:rPr lang="en-US" sz="1800" dirty="0"/>
              <a:t>-</a:t>
            </a:r>
            <a:r>
              <a:rPr lang="en-US" sz="1800" b="1" dirty="0"/>
              <a:t> </a:t>
            </a:r>
            <a:r>
              <a:rPr lang="en-US" sz="1800" dirty="0"/>
              <a:t>save results for frequent queries</a:t>
            </a:r>
            <a:br>
              <a:rPr lang="en-US" sz="1800" dirty="0"/>
            </a:br>
            <a:r>
              <a:rPr lang="en-US" sz="1800" dirty="0"/>
              <a:t>- shard per-collection (Search only relevant data subsets)</a:t>
            </a: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dirty="0" err="1"/>
              <a:t>HyDE</a:t>
            </a:r>
            <a:r>
              <a:rPr lang="en-US" sz="1800" dirty="0"/>
              <a:t> prompts </a:t>
            </a:r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Already implemented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56BEF-A7E5-11B3-C495-A8099C571E8B}"/>
              </a:ext>
            </a:extLst>
          </p:cNvPr>
          <p:cNvSpPr txBox="1"/>
          <p:nvPr/>
        </p:nvSpPr>
        <p:spPr>
          <a:xfrm>
            <a:off x="838200" y="1027938"/>
            <a:ext cx="6657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(CPU-heavy)</a:t>
            </a:r>
          </a:p>
        </p:txBody>
      </p:sp>
    </p:spTree>
    <p:extLst>
      <p:ext uri="{BB962C8B-B14F-4D97-AF65-F5344CB8AC3E}">
        <p14:creationId xmlns:p14="http://schemas.microsoft.com/office/powerpoint/2010/main" val="34272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6C54-A666-A689-A06A-9C41AF579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1CB8-E591-283E-53B6-515E66D5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Generator efficiency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1C058-366A-F93E-A0D9-8F94A9852A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D0E4EB-9A66-34E2-3B2F-7E3AAF814493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6BAE3-864C-1D84-DA3F-CD4938E405A9}"/>
              </a:ext>
            </a:extLst>
          </p:cNvPr>
          <p:cNvSpPr txBox="1"/>
          <p:nvPr/>
        </p:nvSpPr>
        <p:spPr>
          <a:xfrm>
            <a:off x="838200" y="1027938"/>
            <a:ext cx="6657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(GPU-heavy)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EBDB444-2D56-C254-A8B6-B192E3711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0"/>
            <a:ext cx="12465424" cy="606168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 dirty="0"/>
              <a:t>Prefill dominates compute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(O(n²) on context length)</a:t>
            </a:r>
            <a:br>
              <a:rPr lang="en-US" sz="1800" dirty="0"/>
            </a:br>
            <a:r>
              <a:rPr lang="en-US" sz="1800" dirty="0"/>
              <a:t>→ use </a:t>
            </a:r>
            <a:r>
              <a:rPr lang="en-US" sz="1800" b="1" dirty="0"/>
              <a:t>efficient Attention </a:t>
            </a:r>
            <a:r>
              <a:rPr lang="en-US" sz="1800" dirty="0"/>
              <a:t>(</a:t>
            </a:r>
            <a:r>
              <a:rPr lang="en-US" sz="1800" dirty="0" err="1"/>
              <a:t>flashAttention</a:t>
            </a:r>
            <a:r>
              <a:rPr lang="en-US" sz="1800" dirty="0"/>
              <a:t>) = break prompts into chunks and keep prompts short and well-structured.</a:t>
            </a:r>
            <a:endParaRPr lang="en-US" sz="1800" b="1" dirty="0"/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Decode </a:t>
            </a:r>
            <a:r>
              <a:rPr lang="en-US" sz="1800" dirty="0"/>
              <a:t>is</a:t>
            </a:r>
            <a:r>
              <a:rPr lang="en-US" sz="1800" b="1" dirty="0"/>
              <a:t> </a:t>
            </a:r>
            <a:r>
              <a:rPr lang="en-US" sz="1800" dirty="0"/>
              <a:t>limited by how fast data moves, not raw compute</a:t>
            </a:r>
            <a:br>
              <a:rPr lang="en-US" sz="1800" b="1" dirty="0"/>
            </a:br>
            <a:r>
              <a:rPr lang="en-US" sz="1800" dirty="0"/>
              <a:t>→ </a:t>
            </a:r>
            <a:r>
              <a:rPr lang="en-US" sz="1800" b="1" dirty="0"/>
              <a:t>speculative decoding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→ </a:t>
            </a:r>
            <a:r>
              <a:rPr lang="en-US" sz="1800" b="1" dirty="0"/>
              <a:t>KV-cache reuse/pinning</a:t>
            </a:r>
            <a:r>
              <a:rPr lang="en-US" sz="1800" dirty="0"/>
              <a:t> + continuous batching smooths utilization and lowers </a:t>
            </a:r>
            <a:r>
              <a:rPr lang="en-US" sz="1800" b="1" dirty="0"/>
              <a:t>J/token</a:t>
            </a:r>
            <a:r>
              <a:rPr lang="en-US" sz="1800" dirty="0"/>
              <a:t>.</a:t>
            </a: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dirty="0"/>
              <a:t>Model </a:t>
            </a:r>
            <a:r>
              <a:rPr lang="en-US" sz="1800" b="1" dirty="0"/>
              <a:t>Compression</a:t>
            </a:r>
            <a:br>
              <a:rPr lang="en-US" sz="1800" b="1" dirty="0"/>
            </a:b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800" b="1" dirty="0"/>
              <a:t>pruning/distillation </a:t>
            </a:r>
            <a:r>
              <a:rPr lang="en-US" sz="1800" dirty="0"/>
              <a:t>(less parameters – Really good accuracy)</a:t>
            </a:r>
            <a:endParaRPr lang="en-US" sz="1800" b="1" dirty="0"/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KV-cache mgmt.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dirty="0"/>
              <a:t>right-size </a:t>
            </a:r>
            <a:r>
              <a:rPr lang="en-US" sz="1800" dirty="0" err="1"/>
              <a:t>max_tokens</a:t>
            </a:r>
            <a:r>
              <a:rPr lang="en-US" sz="1800" dirty="0"/>
              <a:t>, evict aggressively between steps in agent loops; avoid needless context carryover.</a:t>
            </a:r>
          </a:p>
        </p:txBody>
      </p:sp>
    </p:spTree>
    <p:extLst>
      <p:ext uri="{BB962C8B-B14F-4D97-AF65-F5344CB8AC3E}">
        <p14:creationId xmlns:p14="http://schemas.microsoft.com/office/powerpoint/2010/main" val="4271570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005D-6D8E-A7C3-D7D6-03B26951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B825CC6-D274-ABF3-DE3F-955A54FD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6C690-3BEB-DE68-8006-90E1187E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Agentic orchestration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CFE29-45E8-A5A4-0349-731704728E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910087-508A-A979-5DDD-E07BAEB0574A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1DFEE-9D16-8CF6-2816-940255B4B50A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/>
              <a:t>Agent loops are serial</a:t>
            </a:r>
          </a:p>
          <a:p>
            <a:pPr marL="114300" indent="0">
              <a:buNone/>
            </a:pPr>
            <a:r>
              <a:rPr lang="en-US" sz="1800" dirty="0"/>
              <a:t>(</a:t>
            </a:r>
            <a:r>
              <a:rPr lang="en-US" sz="1800" dirty="0" err="1"/>
              <a:t>Act→Reflect→Act</a:t>
            </a:r>
            <a:r>
              <a:rPr lang="en-US" sz="1800" dirty="0"/>
              <a:t>…) = latency adds up</a:t>
            </a:r>
          </a:p>
          <a:p>
            <a:pPr marL="11430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control flow + tools on CPU</a:t>
            </a:r>
            <a:r>
              <a:rPr lang="en-US" sz="1800" dirty="0"/>
              <a:t> often dominate (≈90% in studies)   </a:t>
            </a:r>
            <a:r>
              <a:rPr lang="en-US" sz="1800" b="1" dirty="0">
                <a:highlight>
                  <a:srgbClr val="FF0000"/>
                </a:highlight>
                <a:sym typeface="Wingdings" pitchFamily="2" charset="2"/>
              </a:rPr>
              <a:t> REALLY BAD FOR OUR RESEARCH</a:t>
            </a:r>
            <a:endParaRPr lang="en-US" sz="1800" b="1" dirty="0">
              <a:highlight>
                <a:srgbClr val="FF0000"/>
              </a:highlight>
            </a:endParaRP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Difficulty-aware orchestration (DAAO-style)</a:t>
            </a:r>
            <a:br>
              <a:rPr lang="en-US" sz="1800" b="1" dirty="0"/>
            </a:br>
            <a:r>
              <a:rPr lang="en-US" sz="1800" dirty="0"/>
              <a:t>routes easy turns to small LLMs and shortens tool chains; hardest turns get the full stack.</a:t>
            </a: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Dynamic retriever ≠ “free”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dirty="0"/>
              <a:t>on-demand features (</a:t>
            </a:r>
            <a:r>
              <a:rPr lang="en-US" sz="1800" dirty="0" err="1"/>
              <a:t>HyDE</a:t>
            </a:r>
            <a:r>
              <a:rPr lang="en-US" sz="1800" dirty="0"/>
              <a:t>, re-rankers, web tools) </a:t>
            </a:r>
            <a:r>
              <a:rPr lang="en-US" sz="1800" b="1" dirty="0"/>
              <a:t>explode steps</a:t>
            </a:r>
            <a:r>
              <a:rPr lang="en-US" sz="1800" dirty="0"/>
              <a:t>; must be meter-driven, not always-on.</a:t>
            </a: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Graph/Agentic-Graph RAG</a:t>
            </a:r>
            <a:br>
              <a:rPr lang="en-US" sz="1800" b="1" dirty="0"/>
            </a:br>
            <a:r>
              <a:rPr lang="en-US" sz="1800" dirty="0"/>
              <a:t>Graph reasoning connects many docs for better logic but uses lots of CPU, GPU, and memory</a:t>
            </a:r>
          </a:p>
        </p:txBody>
      </p:sp>
    </p:spTree>
    <p:extLst>
      <p:ext uri="{BB962C8B-B14F-4D97-AF65-F5344CB8AC3E}">
        <p14:creationId xmlns:p14="http://schemas.microsoft.com/office/powerpoint/2010/main" val="1609034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18ED-55FD-735A-E879-8BCA945D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521640-5AFC-49A8-A1A9-C727C0451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1F1D7-4560-4AF1-0682-FE15DA9C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System-level co-design </a:t>
            </a:r>
            <a:r>
              <a:rPr lang="en-US" b="0" dirty="0"/>
              <a:t>(pipeline)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45BE4-D957-8441-381D-593CAFFC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639C5-0A98-2DFF-99DD-6C1AC8A272E8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EA93-1406-76C3-9AB9-A86E98FBEB75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/>
              <a:t>RAGO-style scheduling</a:t>
            </a:r>
          </a:p>
          <a:p>
            <a:pPr marL="114300" indent="0">
              <a:buNone/>
            </a:pPr>
            <a:r>
              <a:rPr lang="en-US" sz="1800" dirty="0"/>
              <a:t>choose </a:t>
            </a:r>
            <a:r>
              <a:rPr lang="en-US" sz="1800" i="1" dirty="0"/>
              <a:t>placement</a:t>
            </a:r>
            <a:r>
              <a:rPr lang="en-US" sz="1800" dirty="0"/>
              <a:t> (CPU vs GPU vs XPU), </a:t>
            </a:r>
            <a:r>
              <a:rPr lang="en-US" sz="1800" i="1" dirty="0"/>
              <a:t>resource allocation</a:t>
            </a:r>
            <a:r>
              <a:rPr lang="en-US" sz="1800" dirty="0"/>
              <a:t> (how many threads/cores)</a:t>
            </a:r>
          </a:p>
          <a:p>
            <a:pPr marL="114300" indent="0">
              <a:buNone/>
            </a:pPr>
            <a:r>
              <a:rPr lang="en-US" sz="1800" dirty="0"/>
              <a:t>find the </a:t>
            </a:r>
            <a:r>
              <a:rPr lang="en-US" sz="1800" b="1" dirty="0"/>
              <a:t>quality-per-Joule Pareto</a:t>
            </a:r>
            <a:r>
              <a:rPr lang="en-US" sz="1800" dirty="0"/>
              <a:t> rather than single-component maxima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Edge/on-device surveys</a:t>
            </a:r>
          </a:p>
          <a:p>
            <a:pPr marL="114300" indent="0">
              <a:buNone/>
            </a:pPr>
            <a:r>
              <a:rPr lang="en-US" sz="1800" i="1" dirty="0"/>
              <a:t>limited hardware</a:t>
            </a:r>
            <a:r>
              <a:rPr lang="en-US" sz="1800" dirty="0"/>
              <a:t> exist but </a:t>
            </a:r>
            <a:r>
              <a:rPr lang="en-US" sz="1800" b="1" dirty="0"/>
              <a:t>agentic</a:t>
            </a:r>
            <a:r>
              <a:rPr lang="en-US" sz="1800" dirty="0"/>
              <a:t> workflows remain immature</a:t>
            </a:r>
          </a:p>
          <a:p>
            <a:pPr marL="114300" indent="0">
              <a:buNone/>
            </a:pPr>
            <a:r>
              <a:rPr lang="en-US" sz="1800" dirty="0"/>
              <a:t>→ research space for </a:t>
            </a:r>
            <a:r>
              <a:rPr lang="en-US" sz="1800" i="1" dirty="0"/>
              <a:t>energy-aware agents</a:t>
            </a:r>
          </a:p>
          <a:p>
            <a:pPr marL="1143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06944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AFB3-B52D-D97B-75FC-859D3158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B21CB33-3519-9CF4-37B9-536B5EE0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8875D-F850-947B-F30A-46EEE346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System-level co-design </a:t>
            </a:r>
            <a:r>
              <a:rPr lang="en-US" b="0" dirty="0"/>
              <a:t>(pipeline)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BEF2B-E106-17BD-678C-660C94CBE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B325B-7F0D-CB51-C870-6331C1564923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0C0D-09CF-7612-916D-E6321FD20A05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/>
              <a:t>RAGO-style scheduling</a:t>
            </a:r>
          </a:p>
          <a:p>
            <a:pPr marL="114300" indent="0">
              <a:buNone/>
            </a:pPr>
            <a:r>
              <a:rPr lang="en-US" sz="1800" dirty="0"/>
              <a:t>choose </a:t>
            </a:r>
            <a:r>
              <a:rPr lang="en-US" sz="1800" i="1" dirty="0"/>
              <a:t>placement</a:t>
            </a:r>
            <a:r>
              <a:rPr lang="en-US" sz="1800" dirty="0"/>
              <a:t> (CPU vs GPU vs XPU), </a:t>
            </a:r>
            <a:r>
              <a:rPr lang="en-US" sz="1800" i="1" dirty="0"/>
              <a:t>resource allocation</a:t>
            </a:r>
            <a:r>
              <a:rPr lang="en-US" sz="1800" dirty="0"/>
              <a:t> (how many threads/cores)</a:t>
            </a:r>
          </a:p>
          <a:p>
            <a:pPr marL="114300" indent="0">
              <a:buNone/>
            </a:pPr>
            <a:r>
              <a:rPr lang="en-US" sz="1800" dirty="0"/>
              <a:t>find the </a:t>
            </a:r>
            <a:r>
              <a:rPr lang="en-US" sz="1800" b="1" dirty="0"/>
              <a:t>quality-per-Joule Pareto</a:t>
            </a:r>
            <a:r>
              <a:rPr lang="en-US" sz="1800" dirty="0"/>
              <a:t> rather than single-component maxima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Edge/on-device </a:t>
            </a:r>
          </a:p>
          <a:p>
            <a:pPr marL="114300" indent="0">
              <a:buNone/>
            </a:pPr>
            <a:r>
              <a:rPr lang="en-US" sz="1800" i="1" dirty="0"/>
              <a:t>limited hardware</a:t>
            </a:r>
            <a:r>
              <a:rPr lang="en-US" sz="1800" dirty="0"/>
              <a:t> exist but </a:t>
            </a:r>
            <a:r>
              <a:rPr lang="en-US" sz="1800" b="1" dirty="0"/>
              <a:t>agentic</a:t>
            </a:r>
            <a:r>
              <a:rPr lang="en-US" sz="1800" dirty="0"/>
              <a:t> workflows remain immature</a:t>
            </a:r>
          </a:p>
          <a:p>
            <a:pPr marL="114300" indent="0">
              <a:buNone/>
            </a:pPr>
            <a:r>
              <a:rPr lang="en-US" sz="1800" dirty="0"/>
              <a:t>→ research space for </a:t>
            </a:r>
            <a:r>
              <a:rPr lang="en-US" sz="1800" i="1" dirty="0"/>
              <a:t>energy-aware agents</a:t>
            </a:r>
          </a:p>
          <a:p>
            <a:pPr marL="1143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0188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01B6-B7A3-A0B8-19FB-FAA7F49B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F2B7419-94AA-5E82-665A-49CBA802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30EAB-9F6D-4AEE-EC51-9F2755853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  <a:highlight>
                  <a:srgbClr val="00FF00"/>
                </a:highlight>
              </a:rPr>
              <a:t>Research </a:t>
            </a:r>
            <a:r>
              <a:rPr lang="en-US" dirty="0">
                <a:highlight>
                  <a:srgbClr val="00FF00"/>
                </a:highlight>
              </a:rPr>
              <a:t>Evaluation Metrics</a:t>
            </a:r>
            <a:endParaRPr lang="en-US" b="0" dirty="0">
              <a:solidFill>
                <a:srgbClr val="3366CC"/>
              </a:solidFill>
              <a:highlight>
                <a:srgbClr val="00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33BDB-DA3C-9DDC-E0C1-708DC5F134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BD901-CF34-762F-09C7-37E8668E770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3F1D2-DBBC-05A4-06F2-F33E242F6795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1353800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quality</a:t>
            </a:r>
          </a:p>
          <a:p>
            <a:pPr>
              <a:buAutoNum type="arabicPeriod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RAGAS</a:t>
            </a:r>
          </a:p>
          <a:p>
            <a:pPr>
              <a:buAutoNum type="arabicPeriod"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B1C1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 VRAM Usage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(headroom,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buffer against OOM errors) and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KV cache evictions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B1C1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Latency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generation speed, retrieval + prompt processing cost, user experience, …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Power Consumption </a:t>
            </a:r>
            <a:r>
              <a:rPr lang="en-US" sz="1800" dirty="0"/>
              <a:t>(Joules)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total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"use" for a single request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sym typeface="Wingdings" pitchFamily="2" charset="2"/>
              </a:rPr>
              <a:t>over time  J/token)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CPU Utilization</a:t>
            </a:r>
            <a:r>
              <a:rPr lang="en-US" sz="1800" dirty="0"/>
              <a:t> (%)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1800" dirty="0"/>
              <a:t>component latency and cost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"Is the CPU-bound RAG step 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slow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?”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GPU Utilization </a:t>
            </a:r>
            <a:r>
              <a:rPr lang="en-US" sz="1800" dirty="0"/>
              <a:t>(%) : throughput and cost 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Wingdings" pitchFamily="2" charset="2"/>
              <a:buChar char="è"/>
            </a:pPr>
            <a:r>
              <a:rPr lang="en-US" sz="1800" dirty="0"/>
              <a:t>Consider age of the components, usage, degradation </a:t>
            </a:r>
            <a:r>
              <a:rPr lang="en-US" sz="1800" dirty="0">
                <a:sym typeface="Wingdings" pitchFamily="2" charset="2"/>
              </a:rPr>
              <a:t> Improvement long term ? Best usage, no peak ?</a:t>
            </a:r>
          </a:p>
          <a:p>
            <a:pPr>
              <a:buFont typeface="Wingdings" pitchFamily="2" charset="2"/>
              <a:buChar char="è"/>
            </a:pPr>
            <a:r>
              <a:rPr lang="en-US" sz="1800" dirty="0">
                <a:sym typeface="Wingdings" pitchFamily="2" charset="2"/>
              </a:rPr>
              <a:t>Same questions ? Same results ? Variance ?  Same questions ? Should be smaller since the system “learnt” ?</a:t>
            </a:r>
          </a:p>
          <a:p>
            <a:pPr>
              <a:buFont typeface="Wingdings" pitchFamily="2" charset="2"/>
              <a:buChar char="è"/>
            </a:pPr>
            <a:r>
              <a:rPr lang="en-US" sz="1800" dirty="0">
                <a:sym typeface="Wingdings" pitchFamily="2" charset="2"/>
              </a:rPr>
              <a:t>If no metrics </a:t>
            </a: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to activate on workload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tpye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HyDe</a:t>
            </a:r>
            <a:b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Ranker </a:t>
            </a:r>
          </a:p>
        </p:txBody>
      </p:sp>
    </p:spTree>
    <p:extLst>
      <p:ext uri="{BB962C8B-B14F-4D97-AF65-F5344CB8AC3E}">
        <p14:creationId xmlns:p14="http://schemas.microsoft.com/office/powerpoint/2010/main" val="2251963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D5F5-A4E5-D211-8804-1519CEDA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23A592F-9762-AE4D-558A-3E04BAB81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3F58C-4297-A402-764A-48482D0E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Insights and Gaps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E6331-A745-D119-8A4A-31AB916BA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2E6E8-8F62-0C58-AC46-0CA22F13932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8D4A3-2129-96D9-AF67-3D7B9C5BCEEC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/>
              <a:t>Optimize the loop, not only the LLM</a:t>
            </a:r>
            <a:br>
              <a:rPr lang="en-US" sz="1800" b="1" dirty="0"/>
            </a:br>
            <a:r>
              <a:rPr lang="en-US" sz="1800" dirty="0"/>
              <a:t>For agentic RAG, </a:t>
            </a:r>
            <a:r>
              <a:rPr lang="en-US" sz="1800" b="1" dirty="0"/>
              <a:t>CPU-bound control flow + retrieval</a:t>
            </a:r>
            <a:r>
              <a:rPr lang="en-US" sz="1800" dirty="0"/>
              <a:t> often dominate latency/energy. Pure GPU/LLM tweaks miss most of the win.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Difficulty awareness pays</a:t>
            </a:r>
          </a:p>
          <a:p>
            <a:pPr marL="114300" indent="0">
              <a:buNone/>
            </a:pPr>
            <a:r>
              <a:rPr lang="en-US" sz="1800" dirty="0"/>
              <a:t>A lightweight router that classifies turns by hardness and </a:t>
            </a:r>
            <a:r>
              <a:rPr lang="en-US" sz="1800" b="1" dirty="0"/>
              <a:t>short-circuits</a:t>
            </a:r>
            <a:r>
              <a:rPr lang="en-US" sz="1800" dirty="0"/>
              <a:t> tools/LLMs seem to cut Costs</a:t>
            </a:r>
          </a:p>
          <a:p>
            <a:pPr marL="114300" indent="0">
              <a:buNone/>
            </a:pPr>
            <a:r>
              <a:rPr lang="en-US" sz="1800" dirty="0"/>
              <a:t>Minor quality impact.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Retrieval policy is a throttle</a:t>
            </a:r>
            <a:br>
              <a:rPr lang="en-US" sz="1800" b="1" dirty="0"/>
            </a:br>
            <a:r>
              <a:rPr lang="en-US" sz="1800" dirty="0" err="1"/>
              <a:t>HyDE</a:t>
            </a:r>
            <a:r>
              <a:rPr lang="en-US" sz="1800" dirty="0"/>
              <a:t>/</a:t>
            </a:r>
            <a:r>
              <a:rPr lang="en-US" sz="1800" dirty="0" err="1"/>
              <a:t>rerankers</a:t>
            </a:r>
            <a:r>
              <a:rPr lang="en-US" sz="1800" dirty="0"/>
              <a:t> help quality but should be </a:t>
            </a:r>
            <a:r>
              <a:rPr lang="en-US" sz="1800" b="1" dirty="0"/>
              <a:t>conditional</a:t>
            </a:r>
            <a:r>
              <a:rPr lang="en-US" sz="1800" dirty="0"/>
              <a:t> (entropy/uncertainty-triggered), not default.</a:t>
            </a:r>
          </a:p>
          <a:p>
            <a:pPr marL="11430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12854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FD42-C5EB-CB38-66B5-E25BA0C3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D6EDFB3-7757-E97E-91C8-41D8E2E0B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5C065-9E78-F88B-C396-4036D28C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Insights and Gaps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424EC-505D-A0EE-33D6-0AA8530736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2834-7E5D-52BC-90BC-C6EDCB89EF2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2F450-2CCF-4BCC-0531-E22BD8E40ED8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/>
              <a:t>Prefill vs decode require different hardware optimization </a:t>
            </a:r>
          </a:p>
          <a:p>
            <a:pPr marL="11430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prefill → attention optimizations (heavy compute, once)</a:t>
            </a:r>
          </a:p>
          <a:p>
            <a:pPr marL="114300" indent="0">
              <a:buNone/>
            </a:pPr>
            <a:r>
              <a:rPr lang="en-US" sz="1800" dirty="0"/>
              <a:t>	decode → KV/cache + speculative decoding (lighter compute, bandwidth-limited)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Graph-style agents are niche</a:t>
            </a:r>
            <a:br>
              <a:rPr lang="en-US" sz="1800" b="1" dirty="0"/>
            </a:br>
            <a:r>
              <a:rPr lang="en-US" sz="1800" dirty="0"/>
              <a:t>reserve for queries that demonstrably need multi-hop reasoning; otherwise they inflate CPU/GPU time and memory.</a:t>
            </a:r>
          </a:p>
        </p:txBody>
      </p:sp>
    </p:spTree>
    <p:extLst>
      <p:ext uri="{BB962C8B-B14F-4D97-AF65-F5344CB8AC3E}">
        <p14:creationId xmlns:p14="http://schemas.microsoft.com/office/powerpoint/2010/main" val="3161704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94FD-1384-60CB-D62C-7B63C167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8D808A3-16D1-D6CF-76A3-F78A389F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3A262-0AFA-317A-E010-546B1F7D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Hypothesis 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9DCCB-4FE7-B6EE-92C6-D88AF8129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F9CC5-340B-B8B8-CDD8-A3FA686B6C4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794FC-A739-1D62-C794-170CB7012960}"/>
              </a:ext>
            </a:extLst>
          </p:cNvPr>
          <p:cNvSpPr txBox="1">
            <a:spLocks/>
          </p:cNvSpPr>
          <p:nvPr/>
        </p:nvSpPr>
        <p:spPr>
          <a:xfrm>
            <a:off x="838200" y="1461330"/>
            <a:ext cx="12465424" cy="60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H1 — Router ROI</a:t>
            </a:r>
          </a:p>
          <a:p>
            <a:pPr marL="114300" indent="0">
              <a:buNone/>
            </a:pPr>
            <a:r>
              <a:rPr lang="en-US" sz="1800" dirty="0"/>
              <a:t>A 2-stage router (</a:t>
            </a:r>
            <a:r>
              <a:rPr lang="en-US" sz="1800" b="1" dirty="0"/>
              <a:t>small LLM</a:t>
            </a:r>
            <a:r>
              <a:rPr lang="en-US" sz="1800" dirty="0"/>
              <a:t> for easy, </a:t>
            </a:r>
            <a:r>
              <a:rPr lang="en-US" sz="1800" b="1" dirty="0"/>
              <a:t>R-4B</a:t>
            </a:r>
            <a:r>
              <a:rPr lang="en-US" sz="1800" dirty="0"/>
              <a:t> for hard) </a:t>
            </a:r>
            <a:r>
              <a:rPr lang="en-US" sz="1800" b="1" dirty="0"/>
              <a:t>J/token reduction </a:t>
            </a:r>
            <a:r>
              <a:rPr lang="en-US" sz="1800" dirty="0"/>
              <a:t>and quality standard ?</a:t>
            </a: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highlight>
                  <a:srgbClr val="00FF00"/>
                </a:highlight>
              </a:rPr>
              <a:t>H2 — Conditional retrieval</a:t>
            </a:r>
          </a:p>
          <a:p>
            <a:pPr marL="114300" indent="0">
              <a:buNone/>
            </a:pPr>
            <a:r>
              <a:rPr lang="en-US" sz="1800" dirty="0"/>
              <a:t>Enabling </a:t>
            </a:r>
            <a:r>
              <a:rPr lang="en-US" sz="1800" dirty="0" err="1"/>
              <a:t>HyDE</a:t>
            </a:r>
            <a:r>
              <a:rPr lang="en-US" sz="1800" dirty="0"/>
              <a:t> + re-rank </a:t>
            </a:r>
            <a:r>
              <a:rPr lang="en-US" sz="1800" b="1" dirty="0"/>
              <a:t>only</a:t>
            </a:r>
            <a:r>
              <a:rPr lang="en-US" sz="1800" dirty="0"/>
              <a:t> when retriever uncertainty &gt; </a:t>
            </a:r>
            <a:r>
              <a:rPr lang="el-GR" sz="1800" dirty="0"/>
              <a:t>τ</a:t>
            </a:r>
            <a:r>
              <a:rPr lang="fr-CH" sz="1800" dirty="0"/>
              <a:t> </a:t>
            </a:r>
            <a:r>
              <a:rPr lang="fr-CH" sz="1800" dirty="0">
                <a:sym typeface="Wingdings" pitchFamily="2" charset="2"/>
              </a:rPr>
              <a:t> </a:t>
            </a:r>
            <a:r>
              <a:rPr lang="fr-CH" sz="1800" b="1" dirty="0" err="1">
                <a:sym typeface="Wingdings" pitchFamily="2" charset="2"/>
              </a:rPr>
              <a:t>Latency</a:t>
            </a:r>
            <a:r>
              <a:rPr lang="fr-CH" sz="1800" b="1" dirty="0">
                <a:sym typeface="Wingdings" pitchFamily="2" charset="2"/>
              </a:rPr>
              <a:t> </a:t>
            </a:r>
            <a:r>
              <a:rPr lang="fr-CH" sz="1800" b="1" dirty="0" err="1">
                <a:sym typeface="Wingdings" pitchFamily="2" charset="2"/>
              </a:rPr>
              <a:t>decrease</a:t>
            </a:r>
            <a:r>
              <a:rPr lang="fr-CH" sz="1800" b="1" dirty="0">
                <a:sym typeface="Wingdings" pitchFamily="2" charset="2"/>
              </a:rPr>
              <a:t> ?</a:t>
            </a:r>
          </a:p>
          <a:p>
            <a:pPr marL="114300" indent="0">
              <a:buNone/>
            </a:pPr>
            <a:br>
              <a:rPr lang="fr-CH" sz="1800" b="1" dirty="0">
                <a:sym typeface="Wingdings" pitchFamily="2" charset="2"/>
              </a:rPr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H3 — KV/cache discipline</a:t>
            </a:r>
          </a:p>
          <a:p>
            <a:pPr marL="114300" indent="0">
              <a:buNone/>
            </a:pPr>
            <a:r>
              <a:rPr lang="en-US" sz="1800" dirty="0"/>
              <a:t>Observe change in KV reuse + max-new-tokens : </a:t>
            </a:r>
            <a:r>
              <a:rPr lang="en-US" sz="1800" b="1" dirty="0"/>
              <a:t>Token/s increase and VRAM peak decrease ? </a:t>
            </a:r>
          </a:p>
          <a:p>
            <a:pPr marL="114300" indent="0">
              <a:buNone/>
            </a:pPr>
            <a:br>
              <a:rPr lang="en-US" sz="1800" b="1" dirty="0"/>
            </a:br>
            <a:endParaRPr lang="en-US" sz="1800" b="1" dirty="0"/>
          </a:p>
          <a:p>
            <a:pPr marL="114300" indent="0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H4 — CPU SIMD vs GPU DB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For your typical batch size (&lt;N),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CPU-SIMD retrieval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beats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GPU-Milvus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latency/J 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2461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D7AD-C6D4-9031-1C4A-B9373ED5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09212C2-A786-2A11-1D05-5D53474B8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1353800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RAGO (Systematic Performance Optimization for RAG Serving)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</a:t>
            </a:r>
            <a:r>
              <a:rPr lang="en-US" sz="1800" dirty="0"/>
              <a:t>o-optimize </a:t>
            </a:r>
            <a:r>
              <a:rPr lang="en-US" sz="1800" b="1" dirty="0"/>
              <a:t>task placement, resource allocation, and batching</a:t>
            </a:r>
            <a:r>
              <a:rPr lang="en-US" sz="1800" dirty="0"/>
              <a:t> across CPU/GPU in RAG.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It performs system-level co-optimization by making key scheduling decisions for the entire RAG pipeline 40: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Task Placement, Resource Allocation, Batching Policies</a:t>
            </a:r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800" b="1" dirty="0"/>
              <a:t>Why important ?</a:t>
            </a:r>
            <a:br>
              <a:rPr lang="en-US" sz="1800" dirty="0"/>
            </a:br>
            <a:r>
              <a:rPr lang="en-US" sz="1800" dirty="0"/>
              <a:t>gives a method to jointly tune </a:t>
            </a:r>
            <a:r>
              <a:rPr lang="en-US" sz="1800" b="1" dirty="0"/>
              <a:t>Milvus( CPU/GPU ) + </a:t>
            </a:r>
            <a:r>
              <a:rPr lang="en-US" sz="1800" b="1" dirty="0" err="1"/>
              <a:t>vLLM</a:t>
            </a:r>
            <a:r>
              <a:rPr lang="en-US" sz="1800" b="1" dirty="0"/>
              <a:t> + batching</a:t>
            </a:r>
            <a:r>
              <a:rPr lang="en-US" sz="1800" dirty="0"/>
              <a:t> and measure different metrics at the pipeline level, not just the LLM 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8A17D-370F-009E-62D2-297FA6A3C7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29D66-3FFF-41BF-17D8-ADCEEF024FD2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3E5923-CACA-D650-33CF-72B26BA93B73}"/>
              </a:ext>
            </a:extLst>
          </p:cNvPr>
          <p:cNvSpPr txBox="1">
            <a:spLocks/>
          </p:cNvSpPr>
          <p:nvPr/>
        </p:nvSpPr>
        <p:spPr>
          <a:xfrm>
            <a:off x="838200" y="560025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Best papers 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29988-4BD2-E809-385E-43E1D1029BD0}"/>
              </a:ext>
            </a:extLst>
          </p:cNvPr>
          <p:cNvSpPr txBox="1"/>
          <p:nvPr/>
        </p:nvSpPr>
        <p:spPr>
          <a:xfrm>
            <a:off x="1872522" y="0"/>
            <a:ext cx="10319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Google, ETH, Google DeepMind  – March 2025</a:t>
            </a:r>
            <a:b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AGO: Systematic Performance Optimization for Retrieval-Augmented Generation Serving</a:t>
            </a:r>
          </a:p>
          <a:p>
            <a:pPr marL="114300" indent="0" algn="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https://arxiv.org/abs/2503.14649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27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0798-4DB8-6CF5-D055-477AB952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42460C7-CB71-5A14-1855-46C63B91C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1353800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Difficulty-Aware Agentic Orchestration (DAAO)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Proposes a </a:t>
            </a:r>
            <a:r>
              <a:rPr lang="en-US" sz="1800" b="1" dirty="0"/>
              <a:t>router + difficulty estimator (VAE)</a:t>
            </a:r>
            <a:r>
              <a:rPr lang="en-US" sz="1800" dirty="0"/>
              <a:t> that picks the </a:t>
            </a:r>
            <a:r>
              <a:rPr lang="en-US" sz="1800" b="1" dirty="0"/>
              <a:t>cheapest viable workflow/LLM</a:t>
            </a:r>
            <a:r>
              <a:rPr lang="en-US" sz="1800" dirty="0"/>
              <a:t> per query.</a:t>
            </a:r>
          </a:p>
          <a:p>
            <a:pPr marL="114300" indent="0">
              <a:buNone/>
            </a:pPr>
            <a:r>
              <a:rPr lang="en-US" sz="1800" dirty="0"/>
              <a:t>	1. Predicts how “hard” a query is before running any heavy LLMs.</a:t>
            </a:r>
          </a:p>
          <a:p>
            <a:pPr marL="114300" indent="0">
              <a:buNone/>
            </a:pPr>
            <a:r>
              <a:rPr lang="en-US" sz="1800" dirty="0"/>
              <a:t>	2. Chooses which tools or subagents are needed (retriever, </a:t>
            </a:r>
            <a:r>
              <a:rPr lang="en-US" sz="1800" dirty="0" err="1"/>
              <a:t>reranker</a:t>
            </a:r>
            <a:r>
              <a:rPr lang="en-US" sz="1800" dirty="0"/>
              <a:t>, calculator, etc.).</a:t>
            </a:r>
          </a:p>
          <a:p>
            <a:pPr marL="114300" indent="0">
              <a:buNone/>
            </a:pPr>
            <a:r>
              <a:rPr lang="en-US" sz="1800" dirty="0"/>
              <a:t>	3. Selects the appropriate LLM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Generates </a:t>
            </a:r>
            <a:r>
              <a:rPr lang="en-US" sz="1800" b="1" dirty="0"/>
              <a:t>query-specific multi-agent workflows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Why important?</a:t>
            </a:r>
            <a:br>
              <a:rPr lang="en-US" sz="1800" b="1" dirty="0"/>
            </a:br>
            <a:r>
              <a:rPr lang="en-US" sz="1800" dirty="0" err="1"/>
              <a:t>Exemple</a:t>
            </a:r>
            <a:r>
              <a:rPr lang="en-US" sz="1800" dirty="0"/>
              <a:t> of usage to build a small-model gate + conditional tools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dirty="0" err="1"/>
              <a:t>HyDE</a:t>
            </a:r>
            <a:r>
              <a:rPr lang="en-US" sz="1800" dirty="0"/>
              <a:t>/</a:t>
            </a:r>
            <a:r>
              <a:rPr lang="en-US" sz="1800" dirty="0" err="1"/>
              <a:t>rerank</a:t>
            </a:r>
            <a:r>
              <a:rPr lang="en-US" sz="1800" dirty="0"/>
              <a:t> only when uncertain) to </a:t>
            </a:r>
            <a:r>
              <a:rPr lang="en-US" sz="1800" b="1" dirty="0"/>
              <a:t>cut J/token and P95</a:t>
            </a:r>
            <a:r>
              <a:rPr lang="en-US" sz="1800" dirty="0"/>
              <a:t> with minimal quality loss.</a:t>
            </a:r>
          </a:p>
          <a:p>
            <a:pPr marL="114300" indent="0">
              <a:buNone/>
            </a:pPr>
            <a:r>
              <a:rPr lang="en-US" sz="1800" dirty="0"/>
              <a:t> </a:t>
            </a: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A9D6D-00AF-3F21-AF77-378DBDBC89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84969-63FC-E9BF-12ED-33175748B021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0244A2A-C95D-CFCA-E2CD-45BF5FFC2AD1}"/>
              </a:ext>
            </a:extLst>
          </p:cNvPr>
          <p:cNvSpPr txBox="1">
            <a:spLocks/>
          </p:cNvSpPr>
          <p:nvPr/>
        </p:nvSpPr>
        <p:spPr>
          <a:xfrm>
            <a:off x="838200" y="560025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Best papers 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1DB37-7DA3-485F-12D6-22A9C27AABF1}"/>
              </a:ext>
            </a:extLst>
          </p:cNvPr>
          <p:cNvSpPr txBox="1"/>
          <p:nvPr/>
        </p:nvSpPr>
        <p:spPr>
          <a:xfrm>
            <a:off x="1872522" y="0"/>
            <a:ext cx="103194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r"/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Jinwei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Su,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Qizhen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Lan,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Yinghui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Xia, Lifan Sun, Weiyou Tian, Tianyu Shi,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Lewei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He - Sept 25</a:t>
            </a:r>
            <a:b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Difficulty-Aware Agentic Orchestration for Query-Specific Multi-Agent Workflows</a:t>
            </a:r>
          </a:p>
          <a:p>
            <a:pPr marL="114300" algn="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https://arxiv.org/abs/2509.11079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algn="r"/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83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A792-C6FC-F84C-D94B-92FE6D4A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B9B44-1D0F-5F88-6D19-DE6D3CBCAD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3187F-E1CC-85D4-0C3A-247DACABAFE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824C78-132E-2064-0C3B-25F5D6E57584}"/>
              </a:ext>
            </a:extLst>
          </p:cNvPr>
          <p:cNvSpPr txBox="1">
            <a:spLocks/>
          </p:cNvSpPr>
          <p:nvPr/>
        </p:nvSpPr>
        <p:spPr>
          <a:xfrm>
            <a:off x="838200" y="560025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>
                <a:solidFill>
                  <a:srgbClr val="3366CC"/>
                </a:solidFill>
              </a:rPr>
              <a:t>Research </a:t>
            </a:r>
            <a:r>
              <a:rPr lang="en-US" dirty="0"/>
              <a:t>Sources</a:t>
            </a:r>
            <a:endParaRPr lang="en-US" b="0" dirty="0">
              <a:solidFill>
                <a:srgbClr val="3366CC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C2B79A-8F88-6419-7D68-C55AE592A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59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A38E2-720A-4A01-A7E9-F70D512B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B9DF28-710D-5E13-DC14-10F13AC0F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12465424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571500" lvl="2" indent="0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3ED0F-50BF-3972-DF85-DEEC8F7B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CB7F-385F-806B-35D1-5B14A14BDA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38FAB-AE44-6F49-2DD8-B4F6B43B6A5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59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g38f16cf198e_0_16">
            <a:extLst>
              <a:ext uri="{FF2B5EF4-FFF2-40B4-BE49-F238E27FC236}">
                <a16:creationId xmlns:a16="http://schemas.microsoft.com/office/drawing/2014/main" id="{CD0F17D0-9DFE-D28F-6397-D9A655CDB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27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BLA BLA</a:t>
            </a:r>
            <a:br>
              <a:rPr lang="en-US" sz="4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chemeClr val="tx2">
                    <a:lumMod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BLA BLA BLA BLA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9EC0459-EF3C-2137-3B26-99FFB28AF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F0E669-CE08-654D-5427-BF1E3F5C52B5}"/>
                  </a:ext>
                </a:extLst>
              </p14:cNvPr>
              <p14:cNvContentPartPr/>
              <p14:nvPr/>
            </p14:nvContentPartPr>
            <p14:xfrm>
              <a:off x="5481257" y="276329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F0E669-CE08-654D-5427-BF1E3F5C52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137" y="27571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7440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F1A934-7061-173D-CE7F-31458EDE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61F7-53C2-0834-39B7-391316DA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3097-EB90-B7DB-DAFB-5CD9938B1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B4548-B1AC-B285-5B6F-C8D73C97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70" y="1133783"/>
            <a:ext cx="9440659" cy="51775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C87D2A-73CC-85F1-B1D3-5A85988412B1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27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71DD68-50DC-DF42-F761-91B4C5AD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27BA-E631-F08E-3204-6ACF5D8F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A1 </a:t>
            </a:r>
            <a:r>
              <a:rPr lang="en-US" b="0" dirty="0">
                <a:solidFill>
                  <a:srgbClr val="3366CC"/>
                </a:solidFill>
              </a:rPr>
              <a:t>: Dynamic Model Selection Agent</a:t>
            </a:r>
            <a:r>
              <a:rPr lang="en-US" dirty="0">
                <a:solidFill>
                  <a:srgbClr val="3366CC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0BD92-7D79-AC14-A920-6EA0AC9E2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C0C4B2-6F6D-CFC2-03F1-26BBB490E3F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20AE-AB1C-B055-31E8-CBA7995CB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61331"/>
            <a:ext cx="589220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choice of model based on the query complexity </a:t>
            </a:r>
            <a:br>
              <a:rPr lang="en-US" sz="1400" dirty="0">
                <a:solidFill>
                  <a:srgbClr val="3366CC"/>
                </a:solidFill>
              </a:rPr>
            </a:br>
            <a:r>
              <a:rPr lang="en-US" sz="1400" dirty="0">
                <a:solidFill>
                  <a:srgbClr val="3366CC"/>
                </a:solidFill>
              </a:rPr>
              <a:t>→  “Agent Orchestrator” 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Query Classifier </a:t>
            </a:r>
            <a:r>
              <a:rPr lang="en-US" sz="1400" dirty="0"/>
              <a:t>: extracts syntactic semantic features and classifies queries</a:t>
            </a:r>
          </a:p>
          <a:p>
            <a:r>
              <a:rPr lang="en-US" sz="1400" b="1" dirty="0"/>
              <a:t>Model Selection Module</a:t>
            </a:r>
            <a:r>
              <a:rPr lang="en-US" sz="1400" dirty="0"/>
              <a:t> : Maps complexity tier to simple (low Parameters 1B - 3B) or complex (8B w/ fp16) precision models.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Confidence Checks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VRAM reduction, latency savings, energy savings every 100 queries e.g.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Some possible issues</a:t>
            </a:r>
          </a:p>
          <a:p>
            <a:r>
              <a:rPr lang="en-US" sz="1400" dirty="0"/>
              <a:t>Multiple models, management layer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4B82AD-18BA-72E8-603F-55E66CD4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53" y="827770"/>
            <a:ext cx="2559431" cy="518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83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FB0D7E-742B-08DB-875D-7C0364B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A09B-76E0-6370-1334-7EF13C65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Agentic – A2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: Use of recursive Models (TRM)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43528-62B9-64F0-1C47-91FB15852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D8C42-E126-6B80-0026-81CE11063C7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B76B-E0AB-704E-F196-81093D88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86492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Replace the document-ranking / answer validation within the RAG with 2 tiny neural networks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Current State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Single monolithic LLM handles all reasoning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No specialized reasoning for sub-tasks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Document ranking done via Milvus vector similarity only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It brings : </a:t>
            </a:r>
          </a:p>
          <a:p>
            <a:r>
              <a:rPr lang="en-US" sz="1400" dirty="0"/>
              <a:t>Replace large generator for narrow reasoning sub-tasks (e.g., document ranking validation, answer verification)</a:t>
            </a:r>
          </a:p>
          <a:p>
            <a:r>
              <a:rPr lang="en-US" sz="1400" dirty="0"/>
              <a:t>TRM is a supervised learning model, can use the main LLM as ‘teacher data’ and distillate it.</a:t>
            </a:r>
          </a:p>
          <a:p>
            <a:r>
              <a:rPr lang="en-US" sz="1400" dirty="0"/>
              <a:t>Could act as microkernel 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Limitations</a:t>
            </a:r>
            <a:r>
              <a:rPr lang="en-US" sz="1400" dirty="0"/>
              <a:t> </a:t>
            </a:r>
          </a:p>
          <a:p>
            <a:pPr marL="114300" indent="0">
              <a:buNone/>
            </a:pPr>
            <a:r>
              <a:rPr lang="en-US" sz="1400" dirty="0"/>
              <a:t>currently a </a:t>
            </a:r>
            <a:r>
              <a:rPr lang="en-US" sz="1400" b="1" dirty="0"/>
              <a:t>supervised method that provides a single deterministic answer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F1A3E-033E-2C50-BE0C-70750326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43277D-1070-0E44-6544-ED06716D5FE2}"/>
              </a:ext>
            </a:extLst>
          </p:cNvPr>
          <p:cNvSpPr txBox="1">
            <a:spLocks/>
          </p:cNvSpPr>
          <p:nvPr/>
        </p:nvSpPr>
        <p:spPr>
          <a:xfrm>
            <a:off x="-135700" y="-124881"/>
            <a:ext cx="2486246" cy="145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b="1" dirty="0">
                <a:solidFill>
                  <a:srgbClr val="FF0000"/>
                </a:solidFill>
              </a:rPr>
              <a:t>ABANDONED</a:t>
            </a:r>
          </a:p>
        </p:txBody>
      </p:sp>
    </p:spTree>
    <p:extLst>
      <p:ext uri="{BB962C8B-B14F-4D97-AF65-F5344CB8AC3E}">
        <p14:creationId xmlns:p14="http://schemas.microsoft.com/office/powerpoint/2010/main" val="1832987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67FF2F-DB2D-D729-BDA3-D834F1FC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E794-DF9D-D8C9-6AA2-AC9437171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709298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A3</a:t>
            </a:r>
            <a:r>
              <a:rPr lang="en-US" b="0" dirty="0">
                <a:solidFill>
                  <a:srgbClr val="3366CC"/>
                </a:solidFill>
              </a:rPr>
              <a:t> : Agentic Context Engineering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1F77D-CA72-B567-C9BF-F57014725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0388A-CC85-8976-33BC-155AB86B62C0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95A5-6168-228C-EA48-6FA21AD8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496" y="0"/>
            <a:ext cx="329750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FFF5900-802E-3F1D-4584-B18B09BAE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231912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system-prompts creating an evolving memory for operational context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systems prompts </a:t>
            </a:r>
            <a:r>
              <a:rPr lang="en-US" sz="1400" dirty="0"/>
              <a:t> (“smart” - log memory, incrementation, memory storage)</a:t>
            </a:r>
          </a:p>
          <a:p>
            <a:pPr marL="457200" lvl="1"/>
            <a:r>
              <a:rPr lang="en-US" sz="1400" dirty="0"/>
              <a:t>Context compression </a:t>
            </a:r>
          </a:p>
          <a:p>
            <a:pPr marL="457200" lvl="1"/>
            <a:r>
              <a:rPr lang="en-US" sz="1400" b="1" dirty="0"/>
              <a:t>Automatic updates </a:t>
            </a:r>
            <a:r>
              <a:rPr lang="en-US" sz="1400" dirty="0"/>
              <a:t>(sub-memories, audits)</a:t>
            </a:r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Gains</a:t>
            </a:r>
          </a:p>
          <a:p>
            <a:r>
              <a:rPr lang="en-US" sz="1400" dirty="0"/>
              <a:t>Reduce training -&gt; Token usage reduction</a:t>
            </a:r>
          </a:p>
          <a:p>
            <a:r>
              <a:rPr lang="en-US" sz="1400" dirty="0"/>
              <a:t>Long term skill (assimilates all the ’know-how’)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Possible issues </a:t>
            </a:r>
          </a:p>
          <a:p>
            <a:r>
              <a:rPr lang="en-US" sz="1400" dirty="0"/>
              <a:t>memory storage layer Privacy concerns: storing user interaction patterns</a:t>
            </a:r>
          </a:p>
          <a:p>
            <a:r>
              <a:rPr lang="en-US" sz="1400" dirty="0"/>
              <a:t>centralized context migration</a:t>
            </a:r>
          </a:p>
          <a:p>
            <a:r>
              <a:rPr lang="en-US" sz="1400" dirty="0"/>
              <a:t>complexity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9D40ECD-FA88-D2ED-3AA0-928151452E93}"/>
              </a:ext>
            </a:extLst>
          </p:cNvPr>
          <p:cNvSpPr txBox="1">
            <a:spLocks/>
          </p:cNvSpPr>
          <p:nvPr/>
        </p:nvSpPr>
        <p:spPr>
          <a:xfrm>
            <a:off x="0" y="6434671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the paper : </a:t>
            </a:r>
            <a:r>
              <a:rPr lang="en-US" sz="1100" i="1" dirty="0">
                <a:hlinkClick r:id="rId3"/>
              </a:rPr>
              <a:t>Evolving Contexts for Self-Improving Language Models</a:t>
            </a:r>
            <a:r>
              <a:rPr lang="en-US" sz="1100" i="1" dirty="0"/>
              <a:t> (</a:t>
            </a:r>
            <a:r>
              <a:rPr lang="en-US" sz="1100" dirty="0"/>
              <a:t>Stanford University, </a:t>
            </a:r>
            <a:r>
              <a:rPr lang="en-US" sz="1100" dirty="0" err="1"/>
              <a:t>SambaNova</a:t>
            </a:r>
            <a:r>
              <a:rPr lang="en-US" sz="1100" dirty="0"/>
              <a:t> Systems, Inc.  UC Berkeley</a:t>
            </a:r>
            <a:r>
              <a:rPr lang="en-US" sz="1100" i="1" dirty="0"/>
              <a:t>, Oct 2025)</a:t>
            </a:r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58781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539F82-A1D1-5FF0-9FC1-20C77F66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983B-5AD6-4F54-1C03-EAB4A608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S1</a:t>
            </a:r>
            <a:r>
              <a:rPr lang="en-US" b="0" dirty="0">
                <a:solidFill>
                  <a:srgbClr val="3366CC"/>
                </a:solidFill>
              </a:rPr>
              <a:t> : Further Quantization and Pruning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CE381-6CAE-7B4D-D216-FBCF0E489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61DE6-723A-D436-80E9-9804516FE7E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D129100-0DFA-50DB-52A3-08B5352184A3}"/>
              </a:ext>
            </a:extLst>
          </p:cNvPr>
          <p:cNvSpPr txBox="1">
            <a:spLocks/>
          </p:cNvSpPr>
          <p:nvPr/>
        </p:nvSpPr>
        <p:spPr>
          <a:xfrm>
            <a:off x="6934200" y="1461331"/>
            <a:ext cx="52578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dirty="0">
                <a:solidFill>
                  <a:schemeClr val="bg1"/>
                </a:solidFill>
              </a:rPr>
              <a:t>Push the current limits of quantization and pruning beyond Robin’s 4-bit optic</a:t>
            </a:r>
          </a:p>
          <a:p>
            <a:pPr marL="571500" lvl="2" indent="0">
              <a:buNone/>
            </a:pPr>
            <a:endParaRPr lang="en-US" sz="1400" b="1" dirty="0"/>
          </a:p>
          <a:p>
            <a:pPr marL="114300" indent="0">
              <a:buFont typeface="Arial"/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Latency / accuracy tradeoff</a:t>
            </a:r>
          </a:p>
          <a:p>
            <a:r>
              <a:rPr lang="en-US" sz="1400" dirty="0"/>
              <a:t>VRAM reduction </a:t>
            </a:r>
          </a:p>
          <a:p>
            <a:r>
              <a:rPr lang="en-US" sz="1400" dirty="0"/>
              <a:t>Cost per query</a:t>
            </a:r>
          </a:p>
          <a:p>
            <a:r>
              <a:rPr lang="en-US" sz="1400" dirty="0"/>
              <a:t>Use on edge devices (e.g. Raspberry PI)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AF52019-9D32-DAF4-AB66-363D0384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040526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Push the current limits of quantization and pruning beyond Robin’s 4-bit optic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could implement : </a:t>
            </a:r>
          </a:p>
          <a:p>
            <a:pPr marL="457200" lvl="1"/>
            <a:r>
              <a:rPr lang="en-US" sz="1400" b="1" dirty="0"/>
              <a:t>Structured Pruning </a:t>
            </a:r>
            <a:r>
              <a:rPr lang="en-US" sz="1400" dirty="0"/>
              <a:t>(aiming for higher compression)</a:t>
            </a:r>
          </a:p>
          <a:p>
            <a:pPr marL="914400" lvl="2"/>
            <a:r>
              <a:rPr lang="en-US" sz="1000" dirty="0"/>
              <a:t>LLM-Pruner (no unstructured sparsity)</a:t>
            </a:r>
          </a:p>
          <a:p>
            <a:pPr marL="914400" lvl="2"/>
            <a:r>
              <a:rPr lang="en-US" sz="1000" dirty="0"/>
              <a:t>Dynamic reduction based on VRAM (or other metric)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457200" lvl="1"/>
            <a:endParaRPr lang="en-US" sz="1400" b="1" dirty="0"/>
          </a:p>
          <a:p>
            <a:pPr marL="457200" lvl="1"/>
            <a:r>
              <a:rPr lang="en-US" sz="1400" b="1" dirty="0"/>
              <a:t>Quantization :</a:t>
            </a:r>
          </a:p>
          <a:p>
            <a:pPr marL="914400" lvl="2"/>
            <a:r>
              <a:rPr lang="en-US" sz="1000" dirty="0"/>
              <a:t>AWQ (keeps high precision)</a:t>
            </a:r>
          </a:p>
          <a:p>
            <a:pPr marL="914400" lvl="2"/>
            <a:r>
              <a:rPr lang="en-US" sz="1000" dirty="0"/>
              <a:t>Sub 4-bit </a:t>
            </a:r>
          </a:p>
          <a:p>
            <a:pPr marL="914400" lvl="2"/>
            <a:r>
              <a:rPr lang="en-US" sz="1000" dirty="0"/>
              <a:t>Dynamic quantization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914400" lvl="2"/>
            <a:endParaRPr lang="en-US" sz="1400" b="1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9F54328-99AB-7E1D-82D4-F70A3FE76152}"/>
              </a:ext>
            </a:extLst>
          </p:cNvPr>
          <p:cNvSpPr txBox="1">
            <a:spLocks/>
          </p:cNvSpPr>
          <p:nvPr/>
        </p:nvSpPr>
        <p:spPr>
          <a:xfrm>
            <a:off x="0" y="5648282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Robin’s Thesis : Optimizing RAG-Based </a:t>
            </a:r>
            <a:r>
              <a:rPr lang="en-US" sz="1100" i="1" dirty="0" err="1"/>
              <a:t>KnowledgeManagement</a:t>
            </a:r>
            <a:r>
              <a:rPr lang="en-US" sz="1100" i="1" dirty="0"/>
              <a:t> with Fine-Tuned Quantized LLMs [1]</a:t>
            </a:r>
          </a:p>
          <a:p>
            <a:pPr marL="114300" indent="0">
              <a:buNone/>
            </a:pPr>
            <a:r>
              <a:rPr lang="en-US" sz="1100" i="1" dirty="0"/>
              <a:t>Based on the paper </a:t>
            </a:r>
            <a:r>
              <a:rPr lang="en-US" sz="1100" i="1" dirty="0">
                <a:hlinkClick r:id="rId3"/>
              </a:rPr>
              <a:t>Sustainable edge Ai</a:t>
            </a:r>
            <a:r>
              <a:rPr lang="en-US" sz="1100" i="1" dirty="0"/>
              <a:t> (Apr 2025 - </a:t>
            </a:r>
            <a:r>
              <a:rPr lang="en-US" sz="1100" dirty="0"/>
              <a:t>Kristiania University of Applied Sciences &amp; SINTEF, Norway) </a:t>
            </a:r>
            <a:r>
              <a:rPr lang="en-US" sz="1100" i="1" dirty="0"/>
              <a:t>[2]</a:t>
            </a:r>
          </a:p>
          <a:p>
            <a:pPr marL="114300" indent="0">
              <a:buNone/>
            </a:pPr>
            <a:r>
              <a:rPr lang="en-US" sz="1100" dirty="0"/>
              <a:t> 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145387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1DC1FA-C5AF-71FF-4021-8B00FE76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8DC8-37A1-03BA-87D0-E9A78C22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S2 </a:t>
            </a:r>
            <a:r>
              <a:rPr lang="en-US" b="0" dirty="0">
                <a:solidFill>
                  <a:srgbClr val="3366CC"/>
                </a:solidFill>
              </a:rPr>
              <a:t>Resource allocation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D118-7B79-2138-7B68-DFE55FFF1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CCB37-CA3F-EAFF-7160-9E472075118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1C05DE-17D2-C797-9B44-59813F554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6923567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A. Implementation of an orchestration layer to assign computation to the “optimal path”</a:t>
            </a:r>
          </a:p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B. Reuses previously computed outputs through </a:t>
            </a:r>
            <a:r>
              <a:rPr lang="en-US" sz="1400" dirty="0" err="1">
                <a:solidFill>
                  <a:srgbClr val="3366CC"/>
                </a:solidFill>
              </a:rPr>
              <a:t>cace</a:t>
            </a: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hardware allocation </a:t>
            </a:r>
          </a:p>
          <a:p>
            <a:pPr marL="914400" lvl="2"/>
            <a:r>
              <a:rPr lang="en-US" sz="1000" dirty="0"/>
              <a:t>“smart” - log memory</a:t>
            </a:r>
          </a:p>
          <a:p>
            <a:pPr marL="914400" lvl="2"/>
            <a:r>
              <a:rPr lang="en-US" sz="1000" dirty="0"/>
              <a:t>incrementation</a:t>
            </a:r>
          </a:p>
          <a:p>
            <a:pPr marL="914400" lvl="2"/>
            <a:r>
              <a:rPr lang="en-US" sz="1000" dirty="0"/>
              <a:t>memory storage</a:t>
            </a:r>
          </a:p>
          <a:p>
            <a:pPr marL="914400" lvl="2"/>
            <a:r>
              <a:rPr lang="en-US" sz="1000" dirty="0"/>
              <a:t>Allocation monitoring</a:t>
            </a:r>
          </a:p>
          <a:p>
            <a:pPr marL="571500" lvl="2" indent="0">
              <a:buNone/>
            </a:pPr>
            <a:endParaRPr lang="en-US" sz="1000" dirty="0"/>
          </a:p>
          <a:p>
            <a:pPr marL="457200" lvl="1"/>
            <a:r>
              <a:rPr lang="en-US" sz="1400" b="1" dirty="0"/>
              <a:t>Semantic Output Caching</a:t>
            </a:r>
          </a:p>
          <a:p>
            <a:pPr marL="914400" lvl="2"/>
            <a:r>
              <a:rPr lang="en-US" sz="1000" dirty="0"/>
              <a:t>check similarity to previous queries</a:t>
            </a:r>
          </a:p>
          <a:p>
            <a:pPr marL="914400" lvl="2"/>
            <a:r>
              <a:rPr lang="en-US" sz="1000" dirty="0"/>
              <a:t>Retrieve queries by passing the retrieval</a:t>
            </a:r>
          </a:p>
          <a:p>
            <a:pPr marL="914400" lvl="2"/>
            <a:r>
              <a:rPr lang="en-US" sz="1000" dirty="0"/>
              <a:t>Requires to handle outdated queries and answers -&gt; Agents ?</a:t>
            </a:r>
          </a:p>
          <a:p>
            <a:pPr marL="914400" lvl="2"/>
            <a:endParaRPr lang="en-US" sz="1000" dirty="0"/>
          </a:p>
          <a:p>
            <a:pPr marL="114300" lvl="1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</a:t>
            </a:r>
          </a:p>
          <a:p>
            <a:r>
              <a:rPr lang="en-US" sz="1400" dirty="0"/>
              <a:t>Inference time</a:t>
            </a:r>
          </a:p>
          <a:p>
            <a:r>
              <a:rPr lang="en-US" sz="1400" dirty="0"/>
              <a:t>Latency improvement (cached answers)</a:t>
            </a:r>
          </a:p>
          <a:p>
            <a:r>
              <a:rPr lang="en-US" sz="1400" dirty="0"/>
              <a:t>VRAM reduction for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D3130-1D21-4A88-5F5B-398DC161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278" y="0"/>
            <a:ext cx="3122114" cy="642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14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CE7529-854D-5ED0-4DB2-F26B9D84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4245-9A05-0E66-D3E4-91FF35ED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b="0" dirty="0">
                <a:solidFill>
                  <a:srgbClr val="3366CC"/>
                </a:solidFill>
              </a:rPr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79A4-9AAE-36F3-2C7F-01EC3E43C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96CBF-57F4-E92F-D6C8-9DF608CBE69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5B1C71-5978-5B03-8AE1-985121A69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61331"/>
            <a:ext cx="1051559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[1] </a:t>
            </a:r>
            <a:r>
              <a:rPr lang="en-US" sz="1400" dirty="0">
                <a:solidFill>
                  <a:schemeClr val="tx1"/>
                </a:solidFill>
              </a:rPr>
              <a:t>Thesis : How agents may leverage hardware optimization for</a:t>
            </a:r>
          </a:p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[2] </a:t>
            </a:r>
            <a:r>
              <a:rPr lang="en-US" sz="1400" dirty="0">
                <a:solidFill>
                  <a:schemeClr val="tx1"/>
                </a:solidFill>
              </a:rPr>
              <a:t>Thesis</a:t>
            </a:r>
          </a:p>
          <a:p>
            <a:pPr marL="914400" lvl="2"/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01079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C682-433B-3DF8-ABE1-822E9427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(ultra 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14AC-281F-9567-5A12-7204041ED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DEF92-F537-B37E-A379-2C5EB910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8648"/>
            <a:ext cx="7772400" cy="34607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4C1B1-BD8A-C4BD-9792-251A389FBD9E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01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F4612A-0B0F-7576-C9B9-3A94F708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331C-5075-7A07-93A7-82596AEC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Processing 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E7A13-AC96-3CD0-B90D-1D651BED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22" y="1461331"/>
            <a:ext cx="10515600" cy="471563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User Query → Front-end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 err="1"/>
              <a:t>llm</a:t>
            </a:r>
            <a:r>
              <a:rPr lang="en-US" sz="4000" dirty="0"/>
              <a:t>-rag-</a:t>
            </a:r>
            <a:r>
              <a:rPr lang="en-US" sz="4000" dirty="0" err="1"/>
              <a:t>citi</a:t>
            </a:r>
            <a:r>
              <a:rPr lang="en-US" sz="4000" dirty="0"/>
              <a:t> API (Flask)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Semaphore (max 2 concurrent)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HyDE</a:t>
            </a:r>
            <a:r>
              <a:rPr lang="en-US" sz="4000" dirty="0"/>
              <a:t> LLM → Query Expansion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Embedding API → Dense + Sparse query vectors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Milvus Hybrid Search (Private + Public collections)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Reranker</a:t>
            </a:r>
            <a:r>
              <a:rPr lang="en-US" sz="4000" dirty="0"/>
              <a:t> → Top-5 docs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Context Builder → Format snippets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Prompt Template + Conversation History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Generation LLM (Streaming/Async)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SSE Stream → Front-end → Chat UI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[Background] RAGAS Evaluation → PostgreSQL metrics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36A11-E3E7-AE3A-F4D6-C926773DF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D60FD-CC01-8584-42FD-77F16959912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9AF75D-4A51-9A65-FBBF-C9476638326E}"/>
              </a:ext>
            </a:extLst>
          </p:cNvPr>
          <p:cNvSpPr txBox="1">
            <a:spLocks/>
          </p:cNvSpPr>
          <p:nvPr/>
        </p:nvSpPr>
        <p:spPr>
          <a:xfrm>
            <a:off x="60960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User → Front-end → Admin/User Upload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Document Processor (</a:t>
            </a:r>
            <a:r>
              <a:rPr lang="en-US" sz="1000" dirty="0" err="1"/>
              <a:t>MinERU</a:t>
            </a:r>
            <a:r>
              <a:rPr lang="en-US" sz="1000" dirty="0"/>
              <a:t>/</a:t>
            </a:r>
            <a:r>
              <a:rPr lang="en-US" sz="1000" dirty="0" err="1"/>
              <a:t>PyPDF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Text Chunking (</a:t>
            </a:r>
            <a:r>
              <a:rPr lang="en-US" sz="1000" dirty="0" err="1"/>
              <a:t>RecursiveCharacterTextSplitter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Embedding API (BGE-M3) → Dense + Sparse vectors</a:t>
            </a:r>
          </a:p>
          <a:p>
            <a:pPr marL="114300" indent="0">
              <a:lnSpc>
                <a:spcPct val="100000"/>
              </a:lnSpc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Milvus Insert (Private/Public collection)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PostgreSQL Metadata (Document table, </a:t>
            </a:r>
            <a:r>
              <a:rPr lang="en-US" sz="1000" dirty="0" err="1"/>
              <a:t>vdb</a:t>
            </a:r>
            <a:r>
              <a:rPr lang="en-US" sz="1000" dirty="0"/>
              <a:t> mapping)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54FB8-DE85-8131-5AB7-F7DA8DAB9169}"/>
              </a:ext>
            </a:extLst>
          </p:cNvPr>
          <p:cNvSpPr txBox="1"/>
          <p:nvPr/>
        </p:nvSpPr>
        <p:spPr>
          <a:xfrm>
            <a:off x="548641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9C77C-8156-392C-8D49-87EC296E01E6}"/>
              </a:ext>
            </a:extLst>
          </p:cNvPr>
          <p:cNvSpPr txBox="1"/>
          <p:nvPr/>
        </p:nvSpPr>
        <p:spPr>
          <a:xfrm>
            <a:off x="5846603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6646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A9ADEF-2408-28ED-F380-B50ECB31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63A3-77F1-B070-3855-FF6A75D7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A2 </a:t>
            </a:r>
            <a:r>
              <a:rPr lang="en-US" b="0" dirty="0">
                <a:solidFill>
                  <a:srgbClr val="3366CC"/>
                </a:solidFill>
              </a:rPr>
              <a:t>: Use of recursive Models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7F10-72C9-BDAC-DD0C-2385F9F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CEFD5-5BD7-FDBC-A5FC-0D60093B991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FD23C-D109-0F82-BA9D-2BBA67E6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C4B945-1B44-DC0F-C821-35063483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49" y="1095516"/>
            <a:ext cx="2746746" cy="572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8E726-CF08-935D-6014-9C33548F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494" y="2017084"/>
            <a:ext cx="2748708" cy="48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24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10816</TotalTime>
  <Words>2935</Words>
  <Application>Microsoft Macintosh PowerPoint</Application>
  <PresentationFormat>Widescreen</PresentationFormat>
  <Paragraphs>460</Paragraphs>
  <Slides>42</Slides>
  <Notes>29</Notes>
  <HiddenSlides>11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Trebuchet MS</vt:lpstr>
      <vt:lpstr>Calibri</vt:lpstr>
      <vt:lpstr>Wingdings</vt:lpstr>
      <vt:lpstr>Arial</vt:lpstr>
      <vt:lpstr>Poppins</vt:lpstr>
      <vt:lpstr>1_Office Theme</vt:lpstr>
      <vt:lpstr>SOTA and Best Practices Agents for Hardware Optimization in RAG+LLM System    </vt:lpstr>
      <vt:lpstr>PowerPoint Presentation</vt:lpstr>
      <vt:lpstr>Modern RAG Stages</vt:lpstr>
      <vt:lpstr>0 Naïve LLM </vt:lpstr>
      <vt:lpstr>1 Naïve RAG</vt:lpstr>
      <vt:lpstr>2 Retriever</vt:lpstr>
      <vt:lpstr>3 Chunking strategy</vt:lpstr>
      <vt:lpstr>4 Vector database</vt:lpstr>
      <vt:lpstr>5 Adding Metadata</vt:lpstr>
      <vt:lpstr>6 Hybrid Search (Sparse + Dense)</vt:lpstr>
      <vt:lpstr>7 Post-Retrieval Optimization</vt:lpstr>
      <vt:lpstr>7 Post-Retrieval Optimization</vt:lpstr>
      <vt:lpstr>8 Pre-Retrieval Optimization</vt:lpstr>
      <vt:lpstr>9 Graph-Based Retrieval</vt:lpstr>
      <vt:lpstr>8</vt:lpstr>
      <vt:lpstr>PowerPoint Presentation</vt:lpstr>
      <vt:lpstr>Recap</vt:lpstr>
      <vt:lpstr>Research</vt:lpstr>
      <vt:lpstr>Research RAG &amp; retrieval efficiency</vt:lpstr>
      <vt:lpstr>Research Generator efficiency</vt:lpstr>
      <vt:lpstr>Research Agentic orchestration</vt:lpstr>
      <vt:lpstr>Research System-level co-design (pipeline)</vt:lpstr>
      <vt:lpstr>Research System-level co-design (pipeline)</vt:lpstr>
      <vt:lpstr>Research Evaluation Metrics</vt:lpstr>
      <vt:lpstr>Research Insights and Gaps</vt:lpstr>
      <vt:lpstr>Research Insights and Gaps</vt:lpstr>
      <vt:lpstr>Research Hypothesis </vt:lpstr>
      <vt:lpstr>PowerPoint Presentation</vt:lpstr>
      <vt:lpstr>PowerPoint Presentation</vt:lpstr>
      <vt:lpstr>PowerPoint Presentation</vt:lpstr>
      <vt:lpstr>Recap</vt:lpstr>
      <vt:lpstr>PowerPoint Presentation</vt:lpstr>
      <vt:lpstr>KCL – Architecture (simplified)</vt:lpstr>
      <vt:lpstr>Agentic – A1 : Dynamic Model Selection Agent </vt:lpstr>
      <vt:lpstr>Agentic – A2 : Use of recursive Models (TRM)</vt:lpstr>
      <vt:lpstr>Agentic – A3 : Agentic Context Engineering  </vt:lpstr>
      <vt:lpstr>System Level – S1 : Further Quantization and Pruning</vt:lpstr>
      <vt:lpstr>System Level – S2 Resource allocation</vt:lpstr>
      <vt:lpstr>Bibliography</vt:lpstr>
      <vt:lpstr>KCL – Architecture (ultra simplified)</vt:lpstr>
      <vt:lpstr>KCL – Processing low</vt:lpstr>
      <vt:lpstr>Agentic – A2 : Use of recursive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Indie Dewabharata</dc:creator>
  <cp:lastModifiedBy>Vieira Rui (vieirrui)</cp:lastModifiedBy>
  <cp:revision>7</cp:revision>
  <dcterms:created xsi:type="dcterms:W3CDTF">2023-01-25T11:09:42Z</dcterms:created>
  <dcterms:modified xsi:type="dcterms:W3CDTF">2025-11-13T06:37:16Z</dcterms:modified>
</cp:coreProperties>
</file>