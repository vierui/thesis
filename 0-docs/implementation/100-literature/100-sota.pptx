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7" r:id="rId4"/>
    <p:sldId id="270" r:id="rId5"/>
    <p:sldId id="264" r:id="rId6"/>
    <p:sldId id="265" r:id="rId7"/>
    <p:sldId id="266" r:id="rId8"/>
    <p:sldId id="260" r:id="rId9"/>
    <p:sldId id="261" r:id="rId10"/>
    <p:sldId id="268" r:id="rId11"/>
    <p:sldId id="271" r:id="rId12"/>
  </p:sldIdLst>
  <p:sldSz cx="12192000" cy="6858000"/>
  <p:notesSz cx="6858000" cy="9144000"/>
  <p:embeddedFontLs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Trebuchet MS" panose="020B0703020202090204" pitchFamily="34" charset="0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4" orient="horz" pos="396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w8+s/iCPpLN/M1yHokwPnbi8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4"/>
    <p:restoredTop sz="94668"/>
  </p:normalViewPr>
  <p:slideViewPr>
    <p:cSldViewPr snapToGrid="0">
      <p:cViewPr varScale="1">
        <p:scale>
          <a:sx n="114" d="100"/>
          <a:sy n="114" d="100"/>
        </p:scale>
        <p:origin x="1152" y="176"/>
      </p:cViewPr>
      <p:guideLst>
        <p:guide orient="horz" pos="2160"/>
        <p:guide pos="3840"/>
        <p:guide orient="horz" pos="3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16cf198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16cf198e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8f16cf198e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865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1524000" y="138844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ubTitle" idx="1"/>
          </p:nvPr>
        </p:nvSpPr>
        <p:spPr>
          <a:xfrm>
            <a:off x="1524000" y="42136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29F3B500-31FB-CD06-BAF4-DD7F18D4465F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3A6340E2-D714-3408-35B3-223315E4D171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064939AF-A77E-10E3-0037-A1C55A3DBA9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942FC11B-5BB0-C292-9F70-0B54FCF7327C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6B75F484-4D5B-8D8A-80E0-04C9C9074B21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422900B6-B2E2-BDBB-953C-8C77FF82A54D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" name="Google Shape;154;g38f16cf198e_0_26">
            <a:extLst>
              <a:ext uri="{FF2B5EF4-FFF2-40B4-BE49-F238E27FC236}">
                <a16:creationId xmlns:a16="http://schemas.microsoft.com/office/drawing/2014/main" id="{11B90D56-EA47-5BAD-F885-ABEAB1BCDF24}"/>
              </a:ext>
            </a:extLst>
          </p:cNvPr>
          <p:cNvSpPr/>
          <p:nvPr userDrawn="1"/>
        </p:nvSpPr>
        <p:spPr>
          <a:xfrm>
            <a:off x="0" y="-15675"/>
            <a:ext cx="10369200" cy="6016800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55;g38f16cf198e_0_26">
            <a:extLst>
              <a:ext uri="{FF2B5EF4-FFF2-40B4-BE49-F238E27FC236}">
                <a16:creationId xmlns:a16="http://schemas.microsoft.com/office/drawing/2014/main" id="{E05A9980-6C02-4C87-A9ED-E55A3D9668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56;g38f16cf198e_0_26">
            <a:extLst>
              <a:ext uri="{FF2B5EF4-FFF2-40B4-BE49-F238E27FC236}">
                <a16:creationId xmlns:a16="http://schemas.microsoft.com/office/drawing/2014/main" id="{7131373D-42FB-B7FA-E20D-A72F65DF370A}"/>
              </a:ext>
            </a:extLst>
          </p:cNvPr>
          <p:cNvSpPr/>
          <p:nvPr userDrawn="1"/>
        </p:nvSpPr>
        <p:spPr>
          <a:xfrm rot="10800000">
            <a:off x="1824300" y="-17775"/>
            <a:ext cx="10367700" cy="6021000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57;g38f16cf198e_0_26">
            <a:extLst>
              <a:ext uri="{FF2B5EF4-FFF2-40B4-BE49-F238E27FC236}">
                <a16:creationId xmlns:a16="http://schemas.microsoft.com/office/drawing/2014/main" id="{6179DD75-2622-3275-AAE6-CF12156AFE6F}"/>
              </a:ext>
            </a:extLst>
          </p:cNvPr>
          <p:cNvSpPr txBox="1">
            <a:spLocks/>
          </p:cNvSpPr>
          <p:nvPr userDrawn="1"/>
        </p:nvSpPr>
        <p:spPr>
          <a:xfrm>
            <a:off x="0" y="4213675"/>
            <a:ext cx="12192000" cy="17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595959"/>
              </a:buClr>
              <a:buSzPts val="1900"/>
              <a:buFont typeface="Arial"/>
              <a:buNone/>
            </a:pPr>
            <a:endParaRPr lang="en-US" sz="1900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Center for Internet of Things Innovation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National Taiwan University of Science and Technology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Oct 22, 2025 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800"/>
              <a:buFont typeface="Arial"/>
              <a:buNone/>
            </a:pPr>
            <a:endParaRPr lang="en-US" dirty="0">
              <a:solidFill>
                <a:srgbClr val="595959"/>
              </a:solidFill>
            </a:endParaRPr>
          </a:p>
        </p:txBody>
      </p:sp>
      <p:sp>
        <p:nvSpPr>
          <p:cNvPr id="15" name="Google Shape;158;g38f16cf198e_0_26">
            <a:extLst>
              <a:ext uri="{FF2B5EF4-FFF2-40B4-BE49-F238E27FC236}">
                <a16:creationId xmlns:a16="http://schemas.microsoft.com/office/drawing/2014/main" id="{A21BE298-174E-BC05-FDD9-B6690457713A}"/>
              </a:ext>
            </a:extLst>
          </p:cNvPr>
          <p:cNvSpPr txBox="1">
            <a:spLocks/>
          </p:cNvSpPr>
          <p:nvPr userDrawn="1"/>
        </p:nvSpPr>
        <p:spPr>
          <a:xfrm>
            <a:off x="0" y="2055075"/>
            <a:ext cx="12192000" cy="18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  <a:buSzPts val="1100"/>
              <a:buFont typeface="Arial"/>
              <a:buNone/>
            </a:pPr>
            <a:r>
              <a:rPr lang="en-US" b="1">
                <a:solidFill>
                  <a:srgbClr val="434343"/>
                </a:solidFill>
              </a:rPr>
              <a:t>Thesis Proposal</a:t>
            </a:r>
            <a:br>
              <a:rPr lang="en-US" b="1">
                <a:solidFill>
                  <a:srgbClr val="434343"/>
                </a:solidFill>
              </a:rPr>
            </a:br>
            <a:endParaRPr lang="en-US" b="1" dirty="0">
              <a:solidFill>
                <a:srgbClr val="434343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Copyright)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535383"/>
            <a:ext cx="613514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461331"/>
            <a:ext cx="105156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6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6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34" name="Google Shape;34;p6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" name="Google Shape;35;p6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36" name="Google Shape;36;p6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6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F1141439-920D-B86B-56B5-F40C59C12B24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1EFB9185-4BD1-2005-E295-E1693BAB30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Copyright) 1">
  <p:cSld name="Title and Content (Copyright)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76914038f_0_934"/>
          <p:cNvSpPr txBox="1">
            <a:spLocks noGrp="1"/>
          </p:cNvSpPr>
          <p:nvPr>
            <p:ph type="body" idx="1"/>
          </p:nvPr>
        </p:nvSpPr>
        <p:spPr>
          <a:xfrm>
            <a:off x="838080" y="1461120"/>
            <a:ext cx="10514400" cy="47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3" name="Google Shape;43;g3676914038f_0_934"/>
          <p:cNvSpPr txBox="1">
            <a:spLocks noGrp="1"/>
          </p:cNvSpPr>
          <p:nvPr>
            <p:ph type="title"/>
          </p:nvPr>
        </p:nvSpPr>
        <p:spPr>
          <a:xfrm>
            <a:off x="720480" y="288480"/>
            <a:ext cx="11359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3FEF55F9-EF33-BE22-4037-7230A9D37F75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3;p6">
            <a:extLst>
              <a:ext uri="{FF2B5EF4-FFF2-40B4-BE49-F238E27FC236}">
                <a16:creationId xmlns:a16="http://schemas.microsoft.com/office/drawing/2014/main" id="{A9D608C7-6AE6-7032-D576-E336CA2C28D7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5" name="Google Shape;34;p6" descr="C:\Users\Satriya Dinata\Desktop\NTUST.png">
              <a:extLst>
                <a:ext uri="{FF2B5EF4-FFF2-40B4-BE49-F238E27FC236}">
                  <a16:creationId xmlns:a16="http://schemas.microsoft.com/office/drawing/2014/main" id="{65F71E01-6D1F-9950-4538-5E82CC137EEB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" name="Google Shape;35;p6">
              <a:extLst>
                <a:ext uri="{FF2B5EF4-FFF2-40B4-BE49-F238E27FC236}">
                  <a16:creationId xmlns:a16="http://schemas.microsoft.com/office/drawing/2014/main" id="{D3B4B761-8259-0252-122F-C8F06DF47698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7" name="Google Shape;36;p6">
                <a:extLst>
                  <a:ext uri="{FF2B5EF4-FFF2-40B4-BE49-F238E27FC236}">
                    <a16:creationId xmlns:a16="http://schemas.microsoft.com/office/drawing/2014/main" id="{17C531D2-B190-A221-BF8F-0E6BB818ACCB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9A4C6899-D0D0-101B-0C36-B695266721E8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" name="Google Shape;26;p5">
            <a:extLst>
              <a:ext uri="{FF2B5EF4-FFF2-40B4-BE49-F238E27FC236}">
                <a16:creationId xmlns:a16="http://schemas.microsoft.com/office/drawing/2014/main" id="{A3330C2D-8D67-22A6-BFFA-65FDD8005A53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170030E6-A39D-979D-88C7-26D212786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_3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676914038f_0_1455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3676914038f_0_1455"/>
          <p:cNvSpPr txBox="1">
            <a:spLocks noGrp="1"/>
          </p:cNvSpPr>
          <p:nvPr>
            <p:ph type="body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6DAB8CA9-1129-74FB-AEDC-8BC91B42B11F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CED3C22F-996D-70ED-EBCE-015E6DD88C31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3;p6">
            <a:extLst>
              <a:ext uri="{FF2B5EF4-FFF2-40B4-BE49-F238E27FC236}">
                <a16:creationId xmlns:a16="http://schemas.microsoft.com/office/drawing/2014/main" id="{8D192D67-734D-F63E-5835-2FAF6C19851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5" name="Google Shape;34;p6" descr="C:\Users\Satriya Dinata\Desktop\NTUST.png">
              <a:extLst>
                <a:ext uri="{FF2B5EF4-FFF2-40B4-BE49-F238E27FC236}">
                  <a16:creationId xmlns:a16="http://schemas.microsoft.com/office/drawing/2014/main" id="{36A8D9AA-C9F2-983A-4E6D-BB75DA1877BC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" name="Google Shape;35;p6">
              <a:extLst>
                <a:ext uri="{FF2B5EF4-FFF2-40B4-BE49-F238E27FC236}">
                  <a16:creationId xmlns:a16="http://schemas.microsoft.com/office/drawing/2014/main" id="{AE32C840-EC03-BACA-35A0-8F7F0E4F64D2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7" name="Google Shape;36;p6">
                <a:extLst>
                  <a:ext uri="{FF2B5EF4-FFF2-40B4-BE49-F238E27FC236}">
                    <a16:creationId xmlns:a16="http://schemas.microsoft.com/office/drawing/2014/main" id="{46962729-71B2-44A2-6167-3AB397D3A036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CA66D97A-9393-40D3-4684-59F7884079D4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583D0995-A276-2B0E-8BDD-C57649A421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userDrawn="1">
  <p:cSld name="Default"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76914038f_0_1531"/>
          <p:cNvSpPr/>
          <p:nvPr/>
        </p:nvSpPr>
        <p:spPr>
          <a:xfrm>
            <a:off x="0" y="-20640"/>
            <a:ext cx="12193500" cy="6290400"/>
          </a:xfrm>
          <a:prstGeom prst="rect">
            <a:avLst/>
          </a:prstGeom>
          <a:solidFill>
            <a:srgbClr val="3366C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0000" tIns="121900" rIns="1200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g3676914038f_0_1531"/>
          <p:cNvSpPr txBox="1">
            <a:spLocks noGrp="1"/>
          </p:cNvSpPr>
          <p:nvPr>
            <p:ph type="title"/>
          </p:nvPr>
        </p:nvSpPr>
        <p:spPr>
          <a:xfrm>
            <a:off x="831840" y="1709760"/>
            <a:ext cx="10514400" cy="2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6" name="Google Shape;56;g3676914038f_0_1531"/>
          <p:cNvSpPr txBox="1">
            <a:spLocks noGrp="1"/>
          </p:cNvSpPr>
          <p:nvPr>
            <p:ph type="body" idx="1"/>
          </p:nvPr>
        </p:nvSpPr>
        <p:spPr>
          <a:xfrm>
            <a:off x="831840" y="4589280"/>
            <a:ext cx="10514400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E715B40F-AE98-D00B-319E-94471A6DDAF1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B97BBCD0-EF89-C39E-18EF-CD363227E57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5174B19A-45F4-601C-9BA6-BF91287EED35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CA1E5B5E-A915-E1A8-DC38-5374ABBDBED7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84D6AA2F-5C24-0470-A07A-DC8D2EB3A7C4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897051E-5ABD-E316-F3BB-D17C656C2C9F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9A9FC89E-A4ED-2085-48D0-7B4F39F26F30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64900D6A-B617-BEBA-DF72-9B657C3D65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76914038f_0_3523"/>
          <p:cNvSpPr/>
          <p:nvPr/>
        </p:nvSpPr>
        <p:spPr>
          <a:xfrm>
            <a:off x="0" y="-20640"/>
            <a:ext cx="12194400" cy="6307140"/>
          </a:xfrm>
          <a:prstGeom prst="rect">
            <a:avLst/>
          </a:prstGeom>
          <a:solidFill>
            <a:srgbClr val="3366C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g3676914038f_0_3523"/>
          <p:cNvSpPr txBox="1">
            <a:spLocks noGrp="1"/>
          </p:cNvSpPr>
          <p:nvPr>
            <p:ph type="title"/>
          </p:nvPr>
        </p:nvSpPr>
        <p:spPr>
          <a:xfrm>
            <a:off x="831840" y="1709760"/>
            <a:ext cx="10515300" cy="28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676914038f_0_3523"/>
          <p:cNvSpPr txBox="1">
            <a:spLocks noGrp="1"/>
          </p:cNvSpPr>
          <p:nvPr>
            <p:ph type="body" idx="1"/>
          </p:nvPr>
        </p:nvSpPr>
        <p:spPr>
          <a:xfrm>
            <a:off x="831840" y="4589280"/>
            <a:ext cx="105153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5105BFDB-72F0-1126-E05E-0596C87064EC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0A70CA2A-4624-1F87-8A2A-C57737F5A411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47BA560F-0681-8FFD-4F1C-3A5D8077BBE3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4B4FDE21-AF74-E789-F37E-79D4B656CFCD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24CD3B3F-6317-6260-E15B-82E7206E73DF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A4A96472-5FC9-425F-0590-4706EF4D62B0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C41C7628-FFF6-2ABC-BEA7-324094FF96EF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0F1AE62D-00F5-8953-1865-F8AC322188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/>
          <p:cNvPicPr preferRelativeResize="0"/>
          <p:nvPr/>
        </p:nvPicPr>
        <p:blipFill rotWithShape="1">
          <a:blip>
            <a:alphaModFix/>
          </a:blip>
          <a:srcRect t="57579" b="40515"/>
          <a:stretch/>
        </p:blipFill>
        <p:spPr>
          <a:xfrm>
            <a:off x="0" y="4506693"/>
            <a:ext cx="12168000" cy="13063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  <a:defRPr sz="2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F893B931-16D6-7FAF-B64B-42231CEEBDCA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72DE9CD8-C668-9ED6-AEC8-B9DD5211B917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6122EDEC-7A09-0613-F343-C478FDBFAE8F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04031130-6F90-660F-A01C-A39636B9079C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5C3CA04C-E48B-4D34-4535-19AF3A2C59E9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305BA0B-149A-3D12-AB9E-8DBE49DDD00B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DC50175A-F1B9-9ABA-3898-75D5DC81C483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28BAD1AD-0BC9-A647-D204-5873DC938C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Copyright)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1135D3FC-D819-FD92-B95C-38C939A1991F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74861211-0171-1FD2-81E3-EFC6A59BC4B6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FE90888D-304F-EB79-4535-250182758B13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A3D445E4-DC64-9F62-3350-43ECD575D3B6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48BFB1EE-363E-7B6C-BE47-5AFA2FBC2B61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397A6909-290D-7FCA-AA93-88C5D034D946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10824851-6321-250E-DD0F-2F24E0DB8FCD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AFB8C088-CB03-CAFB-5427-8729C61C7B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838200" y="1452785"/>
            <a:ext cx="5181600" cy="472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2"/>
          </p:nvPr>
        </p:nvSpPr>
        <p:spPr>
          <a:xfrm>
            <a:off x="6172200" y="1452785"/>
            <a:ext cx="5181600" cy="472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838200" y="535383"/>
            <a:ext cx="613514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9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9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96" name="Google Shape;96;p9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" name="Google Shape;97;p9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98" name="Google Shape;98;p9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9" name="Google Shape;99;p9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0509C2AF-C2D7-2645-748C-4DD60A80F9CA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AB3B917B-3037-44C2-51A2-AFF398E107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06" name="Google Shape;106;p10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0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08" name="Google Shape;108;p10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9" name="Google Shape;109;p10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10" name="Google Shape;110;p10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1" name="Google Shape;111;p10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9DA8A082-3E1B-F136-4537-765B2682706E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F8BA62CA-32D4-A99F-2503-D46B2CE0C4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18" name="Google Shape;118;p11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1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0" name="Google Shape;120;p11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" name="Google Shape;121;p11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22" name="Google Shape;122;p11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3" name="Google Shape;123;p11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1577BDAB-5520-6AA3-FE05-41B0E248D1B1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D5D5E09D-5668-3233-B388-623101BF84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76914038f_0_941"/>
          <p:cNvSpPr txBox="1">
            <a:spLocks noGrp="1"/>
          </p:cNvSpPr>
          <p:nvPr>
            <p:ph type="title"/>
          </p:nvPr>
        </p:nvSpPr>
        <p:spPr>
          <a:xfrm>
            <a:off x="415680" y="593280"/>
            <a:ext cx="11359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g3676914038f_0_941"/>
          <p:cNvSpPr txBox="1">
            <a:spLocks noGrp="1"/>
          </p:cNvSpPr>
          <p:nvPr>
            <p:ph type="body" idx="1"/>
          </p:nvPr>
        </p:nvSpPr>
        <p:spPr>
          <a:xfrm>
            <a:off x="415680" y="1536480"/>
            <a:ext cx="53319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g3676914038f_0_941"/>
          <p:cNvSpPr txBox="1">
            <a:spLocks noGrp="1"/>
          </p:cNvSpPr>
          <p:nvPr>
            <p:ph type="body" idx="2"/>
          </p:nvPr>
        </p:nvSpPr>
        <p:spPr>
          <a:xfrm>
            <a:off x="6443040" y="1536480"/>
            <a:ext cx="53319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538392C8-6321-4DCE-4314-74656B8F2508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33;p6">
            <a:extLst>
              <a:ext uri="{FF2B5EF4-FFF2-40B4-BE49-F238E27FC236}">
                <a16:creationId xmlns:a16="http://schemas.microsoft.com/office/drawing/2014/main" id="{5DDDB8FC-6836-6713-EAAA-E54E7FC69D79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0" name="Google Shape;34;p6" descr="C:\Users\Satriya Dinata\Desktop\NTUST.png">
              <a:extLst>
                <a:ext uri="{FF2B5EF4-FFF2-40B4-BE49-F238E27FC236}">
                  <a16:creationId xmlns:a16="http://schemas.microsoft.com/office/drawing/2014/main" id="{0F5547E3-D4FF-2082-2B8A-DBFF69B9044A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" name="Google Shape;35;p6">
              <a:extLst>
                <a:ext uri="{FF2B5EF4-FFF2-40B4-BE49-F238E27FC236}">
                  <a16:creationId xmlns:a16="http://schemas.microsoft.com/office/drawing/2014/main" id="{E428E2F1-B0D3-B36E-C6EC-D893D856475B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2" name="Google Shape;36;p6">
                <a:extLst>
                  <a:ext uri="{FF2B5EF4-FFF2-40B4-BE49-F238E27FC236}">
                    <a16:creationId xmlns:a16="http://schemas.microsoft.com/office/drawing/2014/main" id="{F2171482-EEF2-C6B1-EC19-D168DFBCB7DC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86CAEEA-F361-C735-462E-0EB12FEAD8EC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" name="Google Shape;26;p5">
            <a:extLst>
              <a:ext uri="{FF2B5EF4-FFF2-40B4-BE49-F238E27FC236}">
                <a16:creationId xmlns:a16="http://schemas.microsoft.com/office/drawing/2014/main" id="{6AB867BD-EA2E-662C-6139-B6182D2FA105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5;g38f16cf198e_0_26">
            <a:extLst>
              <a:ext uri="{FF2B5EF4-FFF2-40B4-BE49-F238E27FC236}">
                <a16:creationId xmlns:a16="http://schemas.microsoft.com/office/drawing/2014/main" id="{FF6337F2-CEE0-3571-8FD0-C211BA7D49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">
  <p:cSld name="TITLE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6914038f_0_952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76914038f_0_952"/>
          <p:cNvSpPr txBox="1">
            <a:spLocks noGrp="1"/>
          </p:cNvSpPr>
          <p:nvPr>
            <p:ph type="subTitle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A9435812-1F69-67A2-D74D-B5FFF06047AA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821914B8-AE13-DC8B-942D-216A22ACC3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2"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76914038f_0_956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g3676914038f_0_956"/>
          <p:cNvSpPr txBox="1">
            <a:spLocks noGrp="1"/>
          </p:cNvSpPr>
          <p:nvPr>
            <p:ph type="body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73A693C0-6B2F-6B01-E84F-158FBAF70F9C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23A72379-9B0E-2164-CC97-A10EE33057D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2A7325C2-B175-BA8E-1DD6-6E33B9A9AF2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59930C03-91FC-1B8D-C993-3BEC9022DF9D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0FE803A7-E079-FDEC-2F58-A38654F0F0B4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647F288C-56B5-436B-57BD-5712135CCCCC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3B0C641B-45E8-AF60-39DD-12DA8211261B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7BD596B0-57CA-7CCF-7CB0-C07D2B6939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0.0487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xiv.org/abs/2510.04618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4.0336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f16cf198e_0_26"/>
          <p:cNvSpPr/>
          <p:nvPr/>
        </p:nvSpPr>
        <p:spPr>
          <a:xfrm>
            <a:off x="0" y="-15676"/>
            <a:ext cx="10369200" cy="6302175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f16cf198e_0_26"/>
          <p:cNvSpPr/>
          <p:nvPr/>
        </p:nvSpPr>
        <p:spPr>
          <a:xfrm rot="10800000">
            <a:off x="1824300" y="-17776"/>
            <a:ext cx="10367700" cy="6302175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f16cf198e_0_26"/>
          <p:cNvSpPr txBox="1">
            <a:spLocks noGrp="1"/>
          </p:cNvSpPr>
          <p:nvPr>
            <p:ph type="subTitle" idx="4294967295"/>
          </p:nvPr>
        </p:nvSpPr>
        <p:spPr>
          <a:xfrm>
            <a:off x="0" y="4213675"/>
            <a:ext cx="12192000" cy="17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900"/>
              <a:buNone/>
            </a:pPr>
            <a:r>
              <a:rPr lang="fr-CH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Rui Vieira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900"/>
              <a:buNone/>
            </a:pPr>
            <a:r>
              <a:rPr lang="en-US" sz="1600" dirty="0">
                <a:solidFill>
                  <a:schemeClr val="tx1"/>
                </a:solidFill>
              </a:rPr>
              <a:t>Oct 16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, 202</a:t>
            </a:r>
            <a:r>
              <a:rPr lang="en-US" sz="1600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58" name="Google Shape;158;g38f16cf198e_0_26"/>
          <p:cNvSpPr txBox="1">
            <a:spLocks noGrp="1"/>
          </p:cNvSpPr>
          <p:nvPr>
            <p:ph type="ctrTitle" idx="4294967295"/>
          </p:nvPr>
        </p:nvSpPr>
        <p:spPr>
          <a:xfrm>
            <a:off x="0" y="2271623"/>
            <a:ext cx="12192000" cy="1939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434343"/>
                </a:solidFill>
              </a:rPr>
              <a:t>Thesis Proposal</a:t>
            </a:r>
            <a:br>
              <a:rPr lang="en-US" b="1" dirty="0">
                <a:solidFill>
                  <a:srgbClr val="434343"/>
                </a:solidFill>
              </a:rPr>
            </a:br>
            <a:endParaRPr b="1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A934-7061-173D-CE7F-31458EDE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61F7-53C2-0834-39B7-391316DA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Architecture </a:t>
            </a:r>
            <a:r>
              <a:rPr lang="en-US" b="0" dirty="0">
                <a:solidFill>
                  <a:srgbClr val="3366CC"/>
                </a:solidFill>
              </a:rPr>
              <a:t>(simplified)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3097-EB90-B7DB-DAFB-5CD9938B1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B4548-B1AC-B285-5B6F-C8D73C97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70" y="1133783"/>
            <a:ext cx="9440659" cy="51775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C87D2A-73CC-85F1-B1D3-5A85988412B1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2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DD68-50DC-DF42-F761-91B4C5AD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27BA-E631-F08E-3204-6ACF5D8F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A1 </a:t>
            </a:r>
            <a:r>
              <a:rPr lang="en-US" b="0" dirty="0">
                <a:solidFill>
                  <a:srgbClr val="3366CC"/>
                </a:solidFill>
              </a:rPr>
              <a:t>: Dynamic Model Selection Agent</a:t>
            </a:r>
            <a:r>
              <a:rPr lang="en-US" dirty="0">
                <a:solidFill>
                  <a:srgbClr val="3366CC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0BD92-7D79-AC14-A920-6EA0AC9E2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C0C4B2-6F6D-CFC2-03F1-26BBB490E3F4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C20AE-AB1C-B055-31E8-CBA7995CB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61331"/>
            <a:ext cx="589220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Dynamic choice of model based on the query complexity </a:t>
            </a:r>
            <a:br>
              <a:rPr lang="en-US" sz="1400" dirty="0">
                <a:solidFill>
                  <a:srgbClr val="3366CC"/>
                </a:solidFill>
              </a:rPr>
            </a:br>
            <a:r>
              <a:rPr lang="en-US" sz="1400" dirty="0">
                <a:solidFill>
                  <a:srgbClr val="3366CC"/>
                </a:solidFill>
              </a:rPr>
              <a:t>→  “Agent Orchestrator” 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Query Classifier </a:t>
            </a:r>
            <a:r>
              <a:rPr lang="en-US" sz="1400" dirty="0"/>
              <a:t>: extracts syntactic semantic features and classifies queries</a:t>
            </a:r>
          </a:p>
          <a:p>
            <a:r>
              <a:rPr lang="en-US" sz="1400" b="1" dirty="0"/>
              <a:t>Model Selection Module</a:t>
            </a:r>
            <a:r>
              <a:rPr lang="en-US" sz="1400" dirty="0"/>
              <a:t> : Maps complexity tier to simple (low Parameters 1B - 3B) or complex (8B w/ fp16) precision models.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Confidence Checks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Metrics of success </a:t>
            </a:r>
          </a:p>
          <a:p>
            <a:r>
              <a:rPr lang="en-US" sz="1400" dirty="0"/>
              <a:t>VRAM reduction, latency savings, energy savings every 100 queries e.g.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Some possible issues</a:t>
            </a:r>
          </a:p>
          <a:p>
            <a:r>
              <a:rPr lang="en-US" sz="1400" dirty="0"/>
              <a:t>Multiple models, management layer required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4B82AD-18BA-72E8-603F-55E66CD4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053" y="827770"/>
            <a:ext cx="2559431" cy="518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8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0D7E-742B-08DB-875D-7C0364B2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A09B-76E0-6370-1334-7EF13C65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Agentic – A2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: Use of recursive Models (TRM)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43528-62B9-64F0-1C47-91FB15852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3D8C42-E126-6B80-0026-81CE11063C7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BB76B-E0AB-704E-F196-81093D88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86492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Replace the document-ranking / answer validation within the RAG with 2 tiny neural networks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Current State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Single monolithic LLM handles all reasoning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No specialized reasoning for sub-tasks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Document ranking done via Milvus vector similarity only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It brings : </a:t>
            </a:r>
          </a:p>
          <a:p>
            <a:r>
              <a:rPr lang="en-US" sz="1400" dirty="0"/>
              <a:t>Replace large generator for narrow reasoning sub-tasks (e.g., document ranking validation, answer verification)</a:t>
            </a:r>
          </a:p>
          <a:p>
            <a:r>
              <a:rPr lang="en-US" sz="1400" dirty="0"/>
              <a:t>TRM is a supervised learning model, can use the main LLM as ‘teacher data’ and distillate it.</a:t>
            </a:r>
          </a:p>
          <a:p>
            <a:r>
              <a:rPr lang="en-US" sz="1400" dirty="0"/>
              <a:t>Could act as microkernel 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Limitations</a:t>
            </a:r>
            <a:r>
              <a:rPr lang="en-US" sz="1400" dirty="0"/>
              <a:t> </a:t>
            </a:r>
          </a:p>
          <a:p>
            <a:pPr marL="114300" indent="0">
              <a:buNone/>
            </a:pPr>
            <a:r>
              <a:rPr lang="en-US" sz="1400" dirty="0"/>
              <a:t>currently a </a:t>
            </a:r>
            <a:r>
              <a:rPr lang="en-US" sz="1400" b="1" dirty="0"/>
              <a:t>supervised method that provides a single deterministic answer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F1A3E-033E-2C50-BE0C-70750326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38" y="373533"/>
            <a:ext cx="2561514" cy="580343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43277D-1070-0E44-6544-ED06716D5FE2}"/>
              </a:ext>
            </a:extLst>
          </p:cNvPr>
          <p:cNvSpPr txBox="1">
            <a:spLocks/>
          </p:cNvSpPr>
          <p:nvPr/>
        </p:nvSpPr>
        <p:spPr>
          <a:xfrm>
            <a:off x="-135700" y="-124881"/>
            <a:ext cx="2486246" cy="145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400" b="1" dirty="0">
                <a:solidFill>
                  <a:srgbClr val="FF0000"/>
                </a:solidFill>
              </a:rPr>
              <a:t>ABANDONED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67B5628-C125-059B-AF0B-0650520C5B9C}"/>
              </a:ext>
            </a:extLst>
          </p:cNvPr>
          <p:cNvSpPr txBox="1">
            <a:spLocks/>
          </p:cNvSpPr>
          <p:nvPr/>
        </p:nvSpPr>
        <p:spPr>
          <a:xfrm>
            <a:off x="0" y="6434671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100" i="1" dirty="0"/>
              <a:t>Based on the paper : </a:t>
            </a:r>
            <a:r>
              <a:rPr lang="en-US" sz="1100" i="1" dirty="0">
                <a:hlinkClick r:id="rId3"/>
              </a:rPr>
              <a:t>Less is More: Recursive Reasoning with Tiny Networks</a:t>
            </a:r>
            <a:r>
              <a:rPr lang="en-US" sz="1100" i="1" dirty="0"/>
              <a:t> (Alexia Jolicoeur-Martineau, Oct 2025)</a:t>
            </a:r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3298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FF2F-DB2D-D729-BDA3-D834F1FC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E794-DF9D-D8C9-6AA2-AC9437171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709298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A3</a:t>
            </a:r>
            <a:r>
              <a:rPr lang="en-US" b="0" dirty="0">
                <a:solidFill>
                  <a:srgbClr val="3366CC"/>
                </a:solidFill>
              </a:rPr>
              <a:t> : Agentic Context Engineering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1F77D-CA72-B567-C9BF-F57014725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0388A-CC85-8976-33BC-155AB86B62C0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95A5-6168-228C-EA48-6FA21AD8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496" y="0"/>
            <a:ext cx="329750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FFF5900-802E-3F1D-4584-B18B09BAE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231912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Dynamic system-prompts creating an evolving memory for operational context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Dynamics systems prompts </a:t>
            </a:r>
            <a:r>
              <a:rPr lang="en-US" sz="1400" dirty="0"/>
              <a:t> (“smart” - log memory, incrementation, memory storage)</a:t>
            </a:r>
          </a:p>
          <a:p>
            <a:pPr marL="457200" lvl="1"/>
            <a:r>
              <a:rPr lang="en-US" sz="1400" dirty="0"/>
              <a:t>Context compression </a:t>
            </a:r>
          </a:p>
          <a:p>
            <a:pPr marL="457200" lvl="1"/>
            <a:r>
              <a:rPr lang="en-US" sz="1400" b="1" dirty="0"/>
              <a:t>Automatic updates </a:t>
            </a:r>
            <a:r>
              <a:rPr lang="en-US" sz="1400" dirty="0"/>
              <a:t>(sub-memories, audits)</a:t>
            </a:r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Gains</a:t>
            </a:r>
          </a:p>
          <a:p>
            <a:r>
              <a:rPr lang="en-US" sz="1400" dirty="0"/>
              <a:t>Reduce training -&gt; Token usage reduction</a:t>
            </a:r>
          </a:p>
          <a:p>
            <a:r>
              <a:rPr lang="en-US" sz="1400" dirty="0"/>
              <a:t>Long term skill (assimilates all the ’know-how’)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Possible issues </a:t>
            </a:r>
          </a:p>
          <a:p>
            <a:r>
              <a:rPr lang="en-US" sz="1400" dirty="0"/>
              <a:t>memory storage layer Privacy concerns: storing user interaction patterns</a:t>
            </a:r>
          </a:p>
          <a:p>
            <a:r>
              <a:rPr lang="en-US" sz="1400" dirty="0"/>
              <a:t>centralized context migration</a:t>
            </a:r>
          </a:p>
          <a:p>
            <a:r>
              <a:rPr lang="en-US" sz="1400" dirty="0"/>
              <a:t>complexity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9D40ECD-FA88-D2ED-3AA0-928151452E93}"/>
              </a:ext>
            </a:extLst>
          </p:cNvPr>
          <p:cNvSpPr txBox="1">
            <a:spLocks/>
          </p:cNvSpPr>
          <p:nvPr/>
        </p:nvSpPr>
        <p:spPr>
          <a:xfrm>
            <a:off x="0" y="6434671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100" i="1" dirty="0"/>
              <a:t>Based on the paper : </a:t>
            </a:r>
            <a:r>
              <a:rPr lang="en-US" sz="1100" i="1" dirty="0">
                <a:hlinkClick r:id="rId3"/>
              </a:rPr>
              <a:t>Evolving Contexts for Self-Improving Language Models</a:t>
            </a:r>
            <a:r>
              <a:rPr lang="en-US" sz="1100" i="1" dirty="0"/>
              <a:t> (</a:t>
            </a:r>
            <a:r>
              <a:rPr lang="en-US" sz="1100" dirty="0"/>
              <a:t>Stanford University, </a:t>
            </a:r>
            <a:r>
              <a:rPr lang="en-US" sz="1100" dirty="0" err="1"/>
              <a:t>SambaNova</a:t>
            </a:r>
            <a:r>
              <a:rPr lang="en-US" sz="1100" dirty="0"/>
              <a:t> Systems, Inc.  UC Berkeley</a:t>
            </a:r>
            <a:r>
              <a:rPr lang="en-US" sz="1100" i="1" dirty="0"/>
              <a:t>, Oct 2025)</a:t>
            </a:r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5878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9F82-A1D1-5FF0-9FC1-20C77F66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983B-5AD6-4F54-1C03-EAB4A608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System Level – S1</a:t>
            </a:r>
            <a:r>
              <a:rPr lang="en-US" b="0" dirty="0">
                <a:solidFill>
                  <a:srgbClr val="3366CC"/>
                </a:solidFill>
              </a:rPr>
              <a:t> : Further Quantization and Pruning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CE381-6CAE-7B4D-D216-FBCF0E489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61DE6-723A-D436-80E9-9804516FE7E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D129100-0DFA-50DB-52A3-08B5352184A3}"/>
              </a:ext>
            </a:extLst>
          </p:cNvPr>
          <p:cNvSpPr txBox="1">
            <a:spLocks/>
          </p:cNvSpPr>
          <p:nvPr/>
        </p:nvSpPr>
        <p:spPr>
          <a:xfrm>
            <a:off x="6934200" y="1461331"/>
            <a:ext cx="52578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400" dirty="0">
                <a:solidFill>
                  <a:schemeClr val="bg1"/>
                </a:solidFill>
              </a:rPr>
              <a:t>Push the current limits of quantization and pruning beyond Robin’s 4-bit optic</a:t>
            </a:r>
          </a:p>
          <a:p>
            <a:pPr marL="571500" lvl="2" indent="0">
              <a:buNone/>
            </a:pPr>
            <a:endParaRPr lang="en-US" sz="1400" b="1" dirty="0"/>
          </a:p>
          <a:p>
            <a:pPr marL="114300" indent="0">
              <a:buFont typeface="Arial"/>
              <a:buNone/>
            </a:pPr>
            <a:r>
              <a:rPr lang="en-US" sz="1400" b="1" dirty="0"/>
              <a:t>Metrics of success </a:t>
            </a:r>
          </a:p>
          <a:p>
            <a:r>
              <a:rPr lang="en-US" sz="1400" dirty="0"/>
              <a:t>Latency / accuracy tradeoff</a:t>
            </a:r>
          </a:p>
          <a:p>
            <a:r>
              <a:rPr lang="en-US" sz="1400" dirty="0"/>
              <a:t>VRAM reduction </a:t>
            </a:r>
          </a:p>
          <a:p>
            <a:r>
              <a:rPr lang="en-US" sz="1400" dirty="0"/>
              <a:t>Cost per query</a:t>
            </a:r>
          </a:p>
          <a:p>
            <a:r>
              <a:rPr lang="en-US" sz="1400" dirty="0"/>
              <a:t>Use on edge devices (e.g. Raspberry PI)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AF52019-9D32-DAF4-AB66-363D0384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040526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Push the current limits of quantization and pruning beyond Robin’s 4-bit optic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could implement : </a:t>
            </a:r>
          </a:p>
          <a:p>
            <a:pPr marL="457200" lvl="1"/>
            <a:r>
              <a:rPr lang="en-US" sz="1400" b="1" dirty="0"/>
              <a:t>Structured Pruning </a:t>
            </a:r>
            <a:r>
              <a:rPr lang="en-US" sz="1400" dirty="0"/>
              <a:t>(aiming for higher compression)</a:t>
            </a:r>
          </a:p>
          <a:p>
            <a:pPr marL="914400" lvl="2"/>
            <a:r>
              <a:rPr lang="en-US" sz="1000" dirty="0"/>
              <a:t>LLM-Pruner (no unstructured sparsity)</a:t>
            </a:r>
          </a:p>
          <a:p>
            <a:pPr marL="914400" lvl="2"/>
            <a:r>
              <a:rPr lang="en-US" sz="1000" dirty="0"/>
              <a:t>Dynamic reduction based on VRAM (or other metric)</a:t>
            </a:r>
          </a:p>
          <a:p>
            <a:pPr marL="914400" lvl="2"/>
            <a:r>
              <a:rPr lang="en-US" sz="1000" dirty="0"/>
              <a:t>…</a:t>
            </a:r>
          </a:p>
          <a:p>
            <a:pPr marL="457200" lvl="1"/>
            <a:endParaRPr lang="en-US" sz="1400" b="1" dirty="0"/>
          </a:p>
          <a:p>
            <a:pPr marL="457200" lvl="1"/>
            <a:r>
              <a:rPr lang="en-US" sz="1400" b="1" dirty="0"/>
              <a:t>Quantization :</a:t>
            </a:r>
          </a:p>
          <a:p>
            <a:pPr marL="914400" lvl="2"/>
            <a:r>
              <a:rPr lang="en-US" sz="1000" dirty="0"/>
              <a:t>AWQ (keeps high precision)</a:t>
            </a:r>
          </a:p>
          <a:p>
            <a:pPr marL="914400" lvl="2"/>
            <a:r>
              <a:rPr lang="en-US" sz="1000" dirty="0"/>
              <a:t>Sub 4-bit </a:t>
            </a:r>
          </a:p>
          <a:p>
            <a:pPr marL="914400" lvl="2"/>
            <a:r>
              <a:rPr lang="en-US" sz="1000" dirty="0"/>
              <a:t>Dynamic quantization</a:t>
            </a:r>
          </a:p>
          <a:p>
            <a:pPr marL="914400" lvl="2"/>
            <a:r>
              <a:rPr lang="en-US" sz="1000" dirty="0"/>
              <a:t>…</a:t>
            </a:r>
          </a:p>
          <a:p>
            <a:pPr marL="914400" lvl="2"/>
            <a:endParaRPr lang="en-US" sz="1400" b="1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9F54328-99AB-7E1D-82D4-F70A3FE76152}"/>
              </a:ext>
            </a:extLst>
          </p:cNvPr>
          <p:cNvSpPr txBox="1">
            <a:spLocks/>
          </p:cNvSpPr>
          <p:nvPr/>
        </p:nvSpPr>
        <p:spPr>
          <a:xfrm>
            <a:off x="0" y="5648282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100" i="1" dirty="0"/>
              <a:t>Based on Robin’s Thesis : Optimizing RAG-Based </a:t>
            </a:r>
            <a:r>
              <a:rPr lang="en-US" sz="1100" i="1" dirty="0" err="1"/>
              <a:t>KnowledgeManagement</a:t>
            </a:r>
            <a:r>
              <a:rPr lang="en-US" sz="1100" i="1" dirty="0"/>
              <a:t> with Fine-Tuned Quantized LLMs [1]</a:t>
            </a:r>
          </a:p>
          <a:p>
            <a:pPr marL="114300" indent="0">
              <a:buNone/>
            </a:pPr>
            <a:r>
              <a:rPr lang="en-US" sz="1100" i="1" dirty="0"/>
              <a:t>Based on the paper </a:t>
            </a:r>
            <a:r>
              <a:rPr lang="en-US" sz="1100" i="1" dirty="0">
                <a:hlinkClick r:id="rId3"/>
              </a:rPr>
              <a:t>Sustainable edge Ai</a:t>
            </a:r>
            <a:r>
              <a:rPr lang="en-US" sz="1100" i="1" dirty="0"/>
              <a:t> (Apr 2025 - </a:t>
            </a:r>
            <a:r>
              <a:rPr lang="en-US" sz="1100" dirty="0"/>
              <a:t>Kristiania University of Applied Sciences &amp; SINTEF, Norway) </a:t>
            </a:r>
            <a:r>
              <a:rPr lang="en-US" sz="1100" i="1" dirty="0"/>
              <a:t>[2]</a:t>
            </a:r>
          </a:p>
          <a:p>
            <a:pPr marL="114300" indent="0">
              <a:buNone/>
            </a:pPr>
            <a:r>
              <a:rPr lang="en-US" sz="1100" dirty="0"/>
              <a:t> 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14538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C1FA-C5AF-71FF-4021-8B00FE76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8DC8-37A1-03BA-87D0-E9A78C22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System Level – S2 </a:t>
            </a:r>
            <a:r>
              <a:rPr lang="en-US" b="0" dirty="0">
                <a:solidFill>
                  <a:srgbClr val="3366CC"/>
                </a:solidFill>
              </a:rPr>
              <a:t>Resource allocation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D118-7B79-2138-7B68-DFE55FFF1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CCB37-CA3F-EAFF-7160-9E472075118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1C05DE-17D2-C797-9B44-59813F554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6923567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A. Implementation of an orchestration layer to assign computation to the “optimal path”</a:t>
            </a:r>
          </a:p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B. Reuses previously computed outputs through </a:t>
            </a:r>
            <a:r>
              <a:rPr lang="en-US" sz="1400" dirty="0" err="1">
                <a:solidFill>
                  <a:srgbClr val="3366CC"/>
                </a:solidFill>
              </a:rPr>
              <a:t>cace</a:t>
            </a: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Dynamics hardware allocation </a:t>
            </a:r>
          </a:p>
          <a:p>
            <a:pPr marL="914400" lvl="2"/>
            <a:r>
              <a:rPr lang="en-US" sz="1000" dirty="0"/>
              <a:t>“smart” - log memory</a:t>
            </a:r>
          </a:p>
          <a:p>
            <a:pPr marL="914400" lvl="2"/>
            <a:r>
              <a:rPr lang="en-US" sz="1000" dirty="0"/>
              <a:t>incrementation</a:t>
            </a:r>
          </a:p>
          <a:p>
            <a:pPr marL="914400" lvl="2"/>
            <a:r>
              <a:rPr lang="en-US" sz="1000" dirty="0"/>
              <a:t>memory storage</a:t>
            </a:r>
          </a:p>
          <a:p>
            <a:pPr marL="914400" lvl="2"/>
            <a:r>
              <a:rPr lang="en-US" sz="1000" dirty="0"/>
              <a:t>Allocation monitoring</a:t>
            </a:r>
          </a:p>
          <a:p>
            <a:pPr marL="571500" lvl="2" indent="0">
              <a:buNone/>
            </a:pPr>
            <a:endParaRPr lang="en-US" sz="1000" dirty="0"/>
          </a:p>
          <a:p>
            <a:pPr marL="457200" lvl="1"/>
            <a:r>
              <a:rPr lang="en-US" sz="1400" b="1" dirty="0"/>
              <a:t>Semantic Output Caching</a:t>
            </a:r>
          </a:p>
          <a:p>
            <a:pPr marL="914400" lvl="2"/>
            <a:r>
              <a:rPr lang="en-US" sz="1000" dirty="0"/>
              <a:t>check similarity to previous queries</a:t>
            </a:r>
          </a:p>
          <a:p>
            <a:pPr marL="914400" lvl="2"/>
            <a:r>
              <a:rPr lang="en-US" sz="1000" dirty="0"/>
              <a:t>Retrieve queries by passing the retrieval</a:t>
            </a:r>
          </a:p>
          <a:p>
            <a:pPr marL="914400" lvl="2"/>
            <a:r>
              <a:rPr lang="en-US" sz="1000" dirty="0"/>
              <a:t>Requires to handle outdated queries and answers -&gt; Agents ?</a:t>
            </a:r>
          </a:p>
          <a:p>
            <a:pPr marL="914400" lvl="2"/>
            <a:endParaRPr lang="en-US" sz="1000" dirty="0"/>
          </a:p>
          <a:p>
            <a:pPr marL="114300" lvl="1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Metrics of success</a:t>
            </a:r>
          </a:p>
          <a:p>
            <a:r>
              <a:rPr lang="en-US" sz="1400" dirty="0"/>
              <a:t>Inference time</a:t>
            </a:r>
          </a:p>
          <a:p>
            <a:r>
              <a:rPr lang="en-US" sz="1400" dirty="0"/>
              <a:t>Latency improvement (cached answers)</a:t>
            </a:r>
          </a:p>
          <a:p>
            <a:r>
              <a:rPr lang="en-US" sz="1400" dirty="0"/>
              <a:t>VRAM reduction for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6D3130-1D21-4A88-5F5B-398DC161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278" y="0"/>
            <a:ext cx="3122114" cy="642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1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g38f16cf198e_0_16">
            <a:extLst>
              <a:ext uri="{FF2B5EF4-FFF2-40B4-BE49-F238E27FC236}">
                <a16:creationId xmlns:a16="http://schemas.microsoft.com/office/drawing/2014/main" id="{CD0F17D0-9DFE-D28F-6397-D9A655CDB29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27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BLA BLA</a:t>
            </a:r>
            <a:br>
              <a:rPr lang="en-US" sz="4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dirty="0">
                <a:solidFill>
                  <a:schemeClr val="tx2">
                    <a:lumMod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BLA BLA BLA BLA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9EC0459-EF3C-2137-3B26-99FFB28AF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4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C682-433B-3DF8-ABE1-822E9427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Architecture </a:t>
            </a:r>
            <a:r>
              <a:rPr lang="en-US" b="0" dirty="0">
                <a:solidFill>
                  <a:srgbClr val="3366CC"/>
                </a:solidFill>
              </a:rPr>
              <a:t>(ultra simplified)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14AC-281F-9567-5A12-7204041ED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DEF92-F537-B37E-A379-2C5EB910D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8648"/>
            <a:ext cx="7772400" cy="34607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24C1B1-BD8A-C4BD-9792-251A389FBD9E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0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F4612A-0B0F-7576-C9B9-3A94F708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331C-5075-7A07-93A7-82596AEC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Processing 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E7A13-AC96-3CD0-B90D-1D651BED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22" y="1461331"/>
            <a:ext cx="10515600" cy="471563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User Query → Front-end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 err="1"/>
              <a:t>llm</a:t>
            </a:r>
            <a:r>
              <a:rPr lang="en-US" sz="4000" dirty="0"/>
              <a:t>-rag-</a:t>
            </a:r>
            <a:r>
              <a:rPr lang="en-US" sz="4000" dirty="0" err="1"/>
              <a:t>citi</a:t>
            </a:r>
            <a:r>
              <a:rPr lang="en-US" sz="4000" dirty="0"/>
              <a:t> API (Flask)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Semaphore (max 2 concurrent)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[Optional] </a:t>
            </a:r>
            <a:r>
              <a:rPr lang="en-US" sz="4000" dirty="0" err="1"/>
              <a:t>HyDE</a:t>
            </a:r>
            <a:r>
              <a:rPr lang="en-US" sz="4000" dirty="0"/>
              <a:t> LLM → Query Expansion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Embedding API → Dense + Sparse query vectors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Milvus Hybrid Search (Private + Public collections)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[Optional] </a:t>
            </a:r>
            <a:r>
              <a:rPr lang="en-US" sz="4000" dirty="0" err="1"/>
              <a:t>Reranker</a:t>
            </a:r>
            <a:r>
              <a:rPr lang="en-US" sz="4000" dirty="0"/>
              <a:t> → Top-5 docs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Context Builder → Format snippets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Prompt Template + Conversation History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Generation LLM (Streaming/Async)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SSE Stream → Front-end → Chat UI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[Background] RAGAS Evaluation → PostgreSQL metrics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36A11-E3E7-AE3A-F4D6-C926773DF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D60FD-CC01-8584-42FD-77F169599125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89AF75D-4A51-9A65-FBBF-C9476638326E}"/>
              </a:ext>
            </a:extLst>
          </p:cNvPr>
          <p:cNvSpPr txBox="1">
            <a:spLocks/>
          </p:cNvSpPr>
          <p:nvPr/>
        </p:nvSpPr>
        <p:spPr>
          <a:xfrm>
            <a:off x="6096000" y="1461331"/>
            <a:ext cx="105156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User → Front-end → Admin/User Upload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Document Processor (</a:t>
            </a:r>
            <a:r>
              <a:rPr lang="en-US" sz="1000" dirty="0" err="1"/>
              <a:t>MinERU</a:t>
            </a:r>
            <a:r>
              <a:rPr lang="en-US" sz="1000" dirty="0"/>
              <a:t>/</a:t>
            </a:r>
            <a:r>
              <a:rPr lang="en-US" sz="1000" dirty="0" err="1"/>
              <a:t>PyPDF</a:t>
            </a:r>
            <a:r>
              <a:rPr lang="en-US" sz="1000" dirty="0"/>
              <a:t>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Text Chunking (</a:t>
            </a:r>
            <a:r>
              <a:rPr lang="en-US" sz="1000" dirty="0" err="1"/>
              <a:t>RecursiveCharacterTextSplitter</a:t>
            </a:r>
            <a:r>
              <a:rPr lang="en-US" sz="1000" dirty="0"/>
              <a:t>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Embedding API (BGE-M3) → Dense + Sparse vectors</a:t>
            </a:r>
          </a:p>
          <a:p>
            <a:pPr marL="114300" indent="0">
              <a:lnSpc>
                <a:spcPct val="100000"/>
              </a:lnSpc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Milvus Insert (Private/Public collection)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PostgreSQL Metadata (Document table, </a:t>
            </a:r>
            <a:r>
              <a:rPr lang="en-US" sz="1000" dirty="0" err="1"/>
              <a:t>vdb</a:t>
            </a:r>
            <a:r>
              <a:rPr lang="en-US" sz="1000" dirty="0"/>
              <a:t> mapping)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54FB8-DE85-8131-5AB7-F7DA8DAB9169}"/>
              </a:ext>
            </a:extLst>
          </p:cNvPr>
          <p:cNvSpPr txBox="1"/>
          <p:nvPr/>
        </p:nvSpPr>
        <p:spPr>
          <a:xfrm>
            <a:off x="548641" y="1164327"/>
            <a:ext cx="8304902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52CB"/>
              </a:buClr>
              <a:buSzPct val="100000"/>
              <a:buFont typeface="Calibri"/>
              <a:buNone/>
            </a:pPr>
            <a:r>
              <a:rPr lang="en-US" sz="1400" b="0" u="none" strike="noStrike" dirty="0">
                <a:solidFill>
                  <a:srgbClr val="3366CC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lang="en-US" sz="1400" b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9C77C-8156-392C-8D49-87EC296E01E6}"/>
              </a:ext>
            </a:extLst>
          </p:cNvPr>
          <p:cNvSpPr txBox="1"/>
          <p:nvPr/>
        </p:nvSpPr>
        <p:spPr>
          <a:xfrm>
            <a:off x="5846603" y="1164327"/>
            <a:ext cx="8304902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52CB"/>
              </a:buClr>
              <a:buSzPct val="100000"/>
              <a:buFont typeface="Calibri"/>
              <a:buNone/>
            </a:pPr>
            <a:r>
              <a:rPr lang="en-US" sz="1400" b="0" u="none" strike="noStrike" dirty="0">
                <a:solidFill>
                  <a:srgbClr val="3366CC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lang="en-US" sz="1400" b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66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A9ADEF-2408-28ED-F380-B50ECB31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63A3-77F1-B070-3855-FF6A75D7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A2 </a:t>
            </a:r>
            <a:r>
              <a:rPr lang="en-US" b="0" dirty="0">
                <a:solidFill>
                  <a:srgbClr val="3366CC"/>
                </a:solidFill>
              </a:rPr>
              <a:t>: Use of recursive Models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7F10-72C9-BDAC-DD0C-2385F9F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CEFD5-5BD7-FDBC-A5FC-0D60093B991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FD23C-D109-0F82-BA9D-2BBA67E6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38" y="373533"/>
            <a:ext cx="2561514" cy="5803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C4B945-1B44-DC0F-C821-35063483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49" y="1095516"/>
            <a:ext cx="2746746" cy="572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8E726-CF08-935D-6014-9C33548F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494" y="2017084"/>
            <a:ext cx="2748708" cy="48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246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760</Words>
  <Application>Microsoft Macintosh PowerPoint</Application>
  <PresentationFormat>Widescreen</PresentationFormat>
  <Paragraphs>156</Paragraphs>
  <Slides>11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Trebuchet MS</vt:lpstr>
      <vt:lpstr>Calibri</vt:lpstr>
      <vt:lpstr>Arial</vt:lpstr>
      <vt:lpstr>Poppins</vt:lpstr>
      <vt:lpstr>1_Office Theme</vt:lpstr>
      <vt:lpstr>Thesis Proposal </vt:lpstr>
      <vt:lpstr>KCL – Architecture (simplified)</vt:lpstr>
      <vt:lpstr>Agentic – A1 : Dynamic Model Selection Agent </vt:lpstr>
      <vt:lpstr>Agentic – A2 : Use of recursive Models (TRM)</vt:lpstr>
      <vt:lpstr>Agentic – A3 : Agentic Context Engineering  </vt:lpstr>
      <vt:lpstr>System Level – S1 : Further Quantization and Pruning</vt:lpstr>
      <vt:lpstr>System Level – S2 Resource allocation</vt:lpstr>
      <vt:lpstr>PowerPoint Presentation</vt:lpstr>
      <vt:lpstr>KCL – Architecture (ultra simplified)</vt:lpstr>
      <vt:lpstr>KCL – Processing low</vt:lpstr>
      <vt:lpstr>Agentic – A2 : Use of recursive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Indie Dewabharata</dc:creator>
  <cp:lastModifiedBy>Vieira Rui (vieirrui)</cp:lastModifiedBy>
  <cp:revision>4</cp:revision>
  <dcterms:created xsi:type="dcterms:W3CDTF">2023-01-25T11:09:42Z</dcterms:created>
  <dcterms:modified xsi:type="dcterms:W3CDTF">2025-11-06T10:25:39Z</dcterms:modified>
</cp:coreProperties>
</file>